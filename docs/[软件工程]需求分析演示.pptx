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083d76b35b46da" /><Relationship Type="http://schemas.openxmlformats.org/officeDocument/2006/relationships/extended-properties" Target="/docProps/app.xml" Id="R251cb5ac0c82417d" /><Relationship Type="http://schemas.openxmlformats.org/officeDocument/2006/relationships/officeDocument" Target="/ppt/presentation.xml" Id="R11df646f1d724d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2e5d71a304432"/>
  </p:sldMasterIdLst>
  <p:notesMasterIdLst>
    <p:notesMasterId xmlns:r="http://schemas.openxmlformats.org/officeDocument/2006/relationships" r:id="R57d10602be8342ba"/>
  </p:notesMasterIdLst>
  <p:sldIdLst>
    <p:sldId xmlns:r="http://schemas.openxmlformats.org/officeDocument/2006/relationships" id="256" r:id="Rff9798eac7c44215"/>
    <p:sldId xmlns:r="http://schemas.openxmlformats.org/officeDocument/2006/relationships" id="257" r:id="R71e5163223b74f66"/>
    <p:sldId xmlns:r="http://schemas.openxmlformats.org/officeDocument/2006/relationships" id="258" r:id="R145ae530f7e94389"/>
    <p:sldId xmlns:r="http://schemas.openxmlformats.org/officeDocument/2006/relationships" id="259" r:id="Rb222051252d34c05"/>
    <p:sldId xmlns:r="http://schemas.openxmlformats.org/officeDocument/2006/relationships" id="260" r:id="R0cca7083f34c4d58"/>
    <p:sldId xmlns:r="http://schemas.openxmlformats.org/officeDocument/2006/relationships" id="261" r:id="R0fb218bae3f042c2"/>
    <p:sldId xmlns:r="http://schemas.openxmlformats.org/officeDocument/2006/relationships" id="262" r:id="R9c85363cc9cd4b66"/>
    <p:sldId xmlns:r="http://schemas.openxmlformats.org/officeDocument/2006/relationships" id="263" r:id="R023654e44e234b39"/>
    <p:sldId xmlns:r="http://schemas.openxmlformats.org/officeDocument/2006/relationships" id="264" r:id="Re226ab349f4448b5"/>
    <p:sldId xmlns:r="http://schemas.openxmlformats.org/officeDocument/2006/relationships" id="265" r:id="R20a3283cbef34846"/>
    <p:sldId xmlns:r="http://schemas.openxmlformats.org/officeDocument/2006/relationships" id="266" r:id="R661f5832c7a343cf"/>
    <p:sldId xmlns:r="http://schemas.openxmlformats.org/officeDocument/2006/relationships" id="267" r:id="Rb9140bf21f354150"/>
    <p:sldId xmlns:r="http://schemas.openxmlformats.org/officeDocument/2006/relationships" id="268" r:id="R37b4276f250c4442"/>
    <p:sldId xmlns:r="http://schemas.openxmlformats.org/officeDocument/2006/relationships" id="269" r:id="Rf5923f2540e84024"/>
    <p:sldId xmlns:r="http://schemas.openxmlformats.org/officeDocument/2006/relationships" id="270" r:id="R4dc032eb2e2843be"/>
    <p:sldId xmlns:r="http://schemas.openxmlformats.org/officeDocument/2006/relationships" id="271" r:id="Rfe487a6197d74779"/>
    <p:sldId xmlns:r="http://schemas.openxmlformats.org/officeDocument/2006/relationships" id="272" r:id="R506f26274e594743"/>
    <p:sldId xmlns:r="http://schemas.openxmlformats.org/officeDocument/2006/relationships" id="273" r:id="Rfa88631e21c24950"/>
    <p:sldId xmlns:r="http://schemas.openxmlformats.org/officeDocument/2006/relationships" id="274" r:id="R0519a1ac148e4f5d"/>
    <p:sldId xmlns:r="http://schemas.openxmlformats.org/officeDocument/2006/relationships" id="275" r:id="R0115ae1cf16149db"/>
    <p:sldId xmlns:r="http://schemas.openxmlformats.org/officeDocument/2006/relationships" id="276" r:id="R60e32f06b261437f"/>
    <p:sldId xmlns:r="http://schemas.openxmlformats.org/officeDocument/2006/relationships" id="277" r:id="R80647826aadb40bf"/>
    <p:sldId xmlns:r="http://schemas.openxmlformats.org/officeDocument/2006/relationships" id="278" r:id="R388aaacdd7854f22"/>
    <p:sldId xmlns:r="http://schemas.openxmlformats.org/officeDocument/2006/relationships" id="279" r:id="Rad6e0c9927a644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407230a15a419a" /><Relationship Type="http://schemas.openxmlformats.org/officeDocument/2006/relationships/slideMaster" Target="/ppt/slideMasters/slideMaster1.xml" Id="Redb2e5d71a304432" /><Relationship Type="http://schemas.openxmlformats.org/officeDocument/2006/relationships/notesMaster" Target="/ppt/notesMasters/notesMaster1.xml" Id="R57d10602be8342ba" /><Relationship Type="http://schemas.openxmlformats.org/officeDocument/2006/relationships/presProps" Target="/ppt/presProps.xml" Id="R32c3c4bf43334eb6" /><Relationship Type="http://schemas.openxmlformats.org/officeDocument/2006/relationships/tableStyles" Target="/ppt/tableStyles.xml" Id="Re5ccbeceace44d04" /><Relationship Type="http://schemas.openxmlformats.org/officeDocument/2006/relationships/slide" Target="/ppt/slides/slide1.xml" Id="Rff9798eac7c44215" /><Relationship Type="http://schemas.openxmlformats.org/officeDocument/2006/relationships/slide" Target="/ppt/slides/slide2.xml" Id="R71e5163223b74f66" /><Relationship Type="http://schemas.openxmlformats.org/officeDocument/2006/relationships/slide" Target="/ppt/slides/slide3.xml" Id="R145ae530f7e94389" /><Relationship Type="http://schemas.openxmlformats.org/officeDocument/2006/relationships/slide" Target="/ppt/slides/slide4.xml" Id="Rb222051252d34c05" /><Relationship Type="http://schemas.openxmlformats.org/officeDocument/2006/relationships/slide" Target="/ppt/slides/slide5.xml" Id="R0cca7083f34c4d58" /><Relationship Type="http://schemas.openxmlformats.org/officeDocument/2006/relationships/slide" Target="/ppt/slides/slide6.xml" Id="R0fb218bae3f042c2" /><Relationship Type="http://schemas.openxmlformats.org/officeDocument/2006/relationships/slide" Target="/ppt/slides/slide7.xml" Id="R9c85363cc9cd4b66" /><Relationship Type="http://schemas.openxmlformats.org/officeDocument/2006/relationships/slide" Target="/ppt/slides/slide8.xml" Id="R023654e44e234b39" /><Relationship Type="http://schemas.openxmlformats.org/officeDocument/2006/relationships/slide" Target="/ppt/slides/slide9.xml" Id="Re226ab349f4448b5" /><Relationship Type="http://schemas.openxmlformats.org/officeDocument/2006/relationships/slide" Target="/ppt/slides/slide10.xml" Id="R20a3283cbef34846" /><Relationship Type="http://schemas.openxmlformats.org/officeDocument/2006/relationships/slide" Target="/ppt/slides/slide11.xml" Id="R661f5832c7a343cf" /><Relationship Type="http://schemas.openxmlformats.org/officeDocument/2006/relationships/slide" Target="/ppt/slides/slide12.xml" Id="Rb9140bf21f354150" /><Relationship Type="http://schemas.openxmlformats.org/officeDocument/2006/relationships/slide" Target="/ppt/slides/slide13.xml" Id="R37b4276f250c4442" /><Relationship Type="http://schemas.openxmlformats.org/officeDocument/2006/relationships/slide" Target="/ppt/slides/slide14.xml" Id="Rf5923f2540e84024" /><Relationship Type="http://schemas.openxmlformats.org/officeDocument/2006/relationships/slide" Target="/ppt/slides/slide15.xml" Id="R4dc032eb2e2843be" /><Relationship Type="http://schemas.openxmlformats.org/officeDocument/2006/relationships/slide" Target="/ppt/slides/slide16.xml" Id="Rfe487a6197d74779" /><Relationship Type="http://schemas.openxmlformats.org/officeDocument/2006/relationships/slide" Target="/ppt/slides/slide17.xml" Id="R506f26274e594743" /><Relationship Type="http://schemas.openxmlformats.org/officeDocument/2006/relationships/slide" Target="/ppt/slides/slide18.xml" Id="Rfa88631e21c24950" /><Relationship Type="http://schemas.openxmlformats.org/officeDocument/2006/relationships/slide" Target="/ppt/slides/slide19.xml" Id="R0519a1ac148e4f5d" /><Relationship Type="http://schemas.openxmlformats.org/officeDocument/2006/relationships/slide" Target="/ppt/slides/slide20.xml" Id="R0115ae1cf16149db" /><Relationship Type="http://schemas.openxmlformats.org/officeDocument/2006/relationships/slide" Target="/ppt/slides/slide21.xml" Id="R60e32f06b261437f" /><Relationship Type="http://schemas.openxmlformats.org/officeDocument/2006/relationships/slide" Target="/ppt/slides/slide22.xml" Id="R80647826aadb40bf" /><Relationship Type="http://schemas.openxmlformats.org/officeDocument/2006/relationships/slide" Target="/ppt/slides/slide23.xml" Id="R388aaacdd7854f22" /><Relationship Type="http://schemas.openxmlformats.org/officeDocument/2006/relationships/slide" Target="/ppt/slides/slide24.xml" Id="Rad6e0c9927a644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2d821bfd90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8e3c7d1aa4a6b" /><Relationship Type="http://schemas.openxmlformats.org/officeDocument/2006/relationships/notesMaster" Target="/ppt/notesMasters/notesMaster1.xml" Id="Rb0d9ac6c14e445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53d9538194398" /><Relationship Type="http://schemas.openxmlformats.org/officeDocument/2006/relationships/notesMaster" Target="/ppt/notesMasters/notesMaster1.xml" Id="Rb1ab2cdb60364f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8e800196964856" /><Relationship Type="http://schemas.openxmlformats.org/officeDocument/2006/relationships/notesMaster" Target="/ppt/notesMasters/notesMaster1.xml" Id="R69e47efd8f3446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26a5543f2e43c1" /><Relationship Type="http://schemas.openxmlformats.org/officeDocument/2006/relationships/notesMaster" Target="/ppt/notesMasters/notesMaster1.xml" Id="R9b0f20a468bc4b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e3df3bc3bd4e2e" /><Relationship Type="http://schemas.openxmlformats.org/officeDocument/2006/relationships/notesMaster" Target="/ppt/notesMasters/notesMaster1.xml" Id="R6591bc1ad8c2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a78d03b3964e70" /><Relationship Type="http://schemas.openxmlformats.org/officeDocument/2006/relationships/notesMaster" Target="/ppt/notesMasters/notesMaster1.xml" Id="R4c91980c6a0749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5bec92154848fa" /><Relationship Type="http://schemas.openxmlformats.org/officeDocument/2006/relationships/notesMaster" Target="/ppt/notesMasters/notesMaster1.xml" Id="R94fec9a71e4645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6662eff210429f" /><Relationship Type="http://schemas.openxmlformats.org/officeDocument/2006/relationships/notesMaster" Target="/ppt/notesMasters/notesMaster1.xml" Id="Rf9f3417a04264e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b12684d234474" /><Relationship Type="http://schemas.openxmlformats.org/officeDocument/2006/relationships/notesMaster" Target="/ppt/notesMasters/notesMaster1.xml" Id="Rc3d0bf85423f4d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a752276e444398" /><Relationship Type="http://schemas.openxmlformats.org/officeDocument/2006/relationships/notesMaster" Target="/ppt/notesMasters/notesMaster1.xml" Id="R66ea1125a8794e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288e97980c45d1" /><Relationship Type="http://schemas.openxmlformats.org/officeDocument/2006/relationships/notesMaster" Target="/ppt/notesMasters/notesMaster1.xml" Id="R68da5f3f901948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c4c07ee0d24dd9" /><Relationship Type="http://schemas.openxmlformats.org/officeDocument/2006/relationships/notesMaster" Target="/ppt/notesMasters/notesMaster1.xml" Id="R8cda214585894d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b1b15f56e4456d" /><Relationship Type="http://schemas.openxmlformats.org/officeDocument/2006/relationships/notesMaster" Target="/ppt/notesMasters/notesMaster1.xml" Id="R0a73d98af20443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7f4e8a1ee24180" /><Relationship Type="http://schemas.openxmlformats.org/officeDocument/2006/relationships/notesMaster" Target="/ppt/notesMasters/notesMaster1.xml" Id="R09d1e2c34d2143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71b3a892644fc1" /><Relationship Type="http://schemas.openxmlformats.org/officeDocument/2006/relationships/notesMaster" Target="/ppt/notesMasters/notesMaster1.xml" Id="R54823dc0bb3347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af9c6edb084c5f" /><Relationship Type="http://schemas.openxmlformats.org/officeDocument/2006/relationships/notesMaster" Target="/ppt/notesMasters/notesMaster1.xml" Id="Rde84c79c99cf4c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2ffc74349843a3" /><Relationship Type="http://schemas.openxmlformats.org/officeDocument/2006/relationships/notesMaster" Target="/ppt/notesMasters/notesMaster1.xml" Id="Rbb3f36627c924e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aaaa88c93d48aa" /><Relationship Type="http://schemas.openxmlformats.org/officeDocument/2006/relationships/notesMaster" Target="/ppt/notesMasters/notesMaster1.xml" Id="Ra6275501854843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9183a903ac48c6" /><Relationship Type="http://schemas.openxmlformats.org/officeDocument/2006/relationships/notesMaster" Target="/ppt/notesMasters/notesMaster1.xml" Id="R26228942698844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ae9f57049c41ec" /><Relationship Type="http://schemas.openxmlformats.org/officeDocument/2006/relationships/notesMaster" Target="/ppt/notesMasters/notesMaster1.xml" Id="Rb88ea3523daa45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e22ae07f9004b12" /><Relationship Type="http://schemas.openxmlformats.org/officeDocument/2006/relationships/notesMaster" Target="/ppt/notesMasters/notesMaster1.xml" Id="R7efc3046afb143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b71e2b8b3e44ef" /><Relationship Type="http://schemas.openxmlformats.org/officeDocument/2006/relationships/notesMaster" Target="/ppt/notesMasters/notesMaster1.xml" Id="Rc12707f543164a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43c2305def414f" /><Relationship Type="http://schemas.openxmlformats.org/officeDocument/2006/relationships/notesMaster" Target="/ppt/notesMasters/notesMaster1.xml" Id="Rbe4005b3bd5643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57a9b8223d64858" /><Relationship Type="http://schemas.openxmlformats.org/officeDocument/2006/relationships/notesMaster" Target="/ppt/notesMasters/notesMaster1.xml" Id="R67968e2c40d04f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们介绍统一权限管理系统的需求分析。我们会沿着一个问题往下讲：拿到“集团希望统一管理权限”这样的描述后，怎样逐步明确系统要解决什么、与谁协作，以及可以拆成哪些责任。这里采用结构化分析的思路，结合业务场景和数据流图，把功能、规则与验收条件连接起来。最后得到的模块分解，是后续设计的输入。本次先讲清这些分析依据，不展开程序和存储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1.1、2.1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背景是一个虚拟集团，各业务系统由不同开发商建设，分别维护账号和权限。员工进入不同系统时需要分别登录，管理员也要进入不同后台授权。集团很难回答“某个人现在能访问哪些系统、能做哪些操作”。员工调动或离开后，遗漏撤权也可能发生。所以分析起点既包含登录体验，也包含权限的集中掌握和及时变化。后面的每一项需求，都应该能回到这些问题上解释它的必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认问题之后，我们界定建设目标：集中维护身份，通过角色管理权限，让独立系统在登录和业务操作时取得统一判断。初始化规模是一万名员工、十个公司、一百零一个部门和十七个外部系统。原始权限清单出现十八个系统名称，其中“系统管理后台”对应平台自身，所以不作为外部系统重复接入。规模用于约束分析和验收，演示只实现 OA 与知识库两个模拟系统的少量功能，不要求重建十七套完整业务。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1.2、2.1、2.3.1、7.5 节；ACC-F-001。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事实来源包括课程背景、员工表、部门表和权限清单，以及已经确认的业务规则。资料提供了规模和名称，却不会自动给出完整需求。例如，岗位叫“系统管理员”，是否就有平台管理权？有些员工的部门填的是公司，应该如何处理？这些都需要澄清。当前基线保留五十四名公司直属员工的待确认部门状态，不随意归入某个部门。这里展示的是根据资料整理问题的方法，没有假设真实客户已经接受过访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拿到需求时，“统一登录”“实时生效”“管理员可以授权”都还不够明确。我们要继续问：登录以后是否自动有权限？实时是立刻完成，还是允许短暂延迟？部门管理员能不能给其他部门的人授权？确认后的规则是，认证与授权分别判断，相关变更最多三秒影响后续请求，部门管理员只能管理本部门。这样，原来容易产生不同理解的话，就变成了可以检查的行为。其他需求也用同样的方法逐项澄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1.3、1.4、2.3.1–2.3.3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这张图按分析工作的顺序读。先确认问题和范围，再识别参与者及输入输出，画上下文图；打开系统内部后，分解处理、整理业务信息；关键处理继续细化，补充规则与异常，最后形成模块责任和验收条件。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次分解都要问，这层解决什么、使用哪些事实、输出是否回应上层需求。如果角色停用以后究竟保留还是撤销分配仍说不清，就应回到业务规则确认。结构化分析提供逻辑信息模型，模块分解开始讨论责任组织。两步相互校验，但一个处理不必直接对应一个模块，也不代表已经确定程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3、4、7.4、7.5 节；工作顺序为教学整理。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识别参与者时，我们看谁在与平台交换信息，以及他想完成什么。普通员工访问业务系统，不进入后台；最高管理员维护全局基础，部门管理员只维护本部门；外部系统验证身份结果、请求鉴权并上报目录。同一个人具有管理员身份时，业务访问与后台管理仍要分别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用“导出本人报表”说明边界。平台判断有没有导出权限，外部系统判断哪些报表属于本人，并执行导出。平台不接管业务数据，也不代理转发全部请求。审批和线下申请在外部完成。登录校验虽然采用课程简化，隔离与拒绝越权仍需验收。这样能限制范围，又不遗漏双方协作的必要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2.2、2.3.3、2.3.4、4.1、6.1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图中先看员工、角色与权限。我们采用 RBAC0，由角色组合功能点和操作动作，员工通过角色取得权限，不引入个人直接权限或角色继承。每员工每系统最多一个角色，是项目另外确认的业务限制，不能说成 RBAC0 必然要求。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角色同时属于一个部门和一个系统，只选择对应系统的有效权限。部门与系统是多对多可用关系，但开放系统不直接授权员工。五类模板只提供复制起点，不能直接分配；模板更新不覆盖已有部门角色。最高管理员身份也不会自动获得 OA 业务权限。图表达业务关系，不表示数据库结构；这些词义统一以后，后续分解才有一致基础。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1.3、2.3.2、3.1、4.2.11、4.2.12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参与者和边界后，我们把整个平台先当成一个处理，画上下文数据流图。员工提交登录和退出请求，取得身份及会话结果；管理员提交管理与查询，取得处理结果；外部系统提交登录验证、鉴权和目录信息，取得相应结论。先看输入，再看输出，就能检查每个参与者的目标有没有得到回应。这里暂时不展开平台内部，也不表示各请求的先后顺序。外部业务数据没有经过平台，这同样是边界判断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3.2 节，F1–F6；按图 3-2 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打开平台后，按信息处理责任识别五个处理。P1 管身份认证与会话，P2 管组织与管理范围，P3 管系统目录与角色，P4 管授权与鉴权，P5 管审计查询与统计。管理员请求按目的进入不同处理；员工的登录退出进入 P1，外部系统请求进入 P1、P3 和 P4。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是一级图的边界交换视图，只隐藏内部信息集合，下一页继续看相同处理的事实读写。这样避免所有连线挤在一起。每一类输入都要有对应结果，例如目录上报必须得到确认或拒绝，不能只画输入。分流依据是信息处理目的，不能按后台菜单数量直接认定处理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3.3 节；与第 09 页共同表达一级数据流。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接着看五个处理使用的信息。P2 维护员工与管理范围，P3 维护系统、目录和角色，P1 读取这两类事实并改变统一会话。P4 既要读员工、系统、会话，也要读取和改变角色分配。P1 至 P4 产生的认证、管理、拒绝和异常事件汇入 P5，形成可查询记录。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 编号表示业务信息集合，不规定保存方式。图中重复出现的 D1、D2 表示同一信息。读箭头时区分读取与更新：运行时鉴权读取分配，不会因为判断成功而新增角色。信息集合之间不能直接互传，每项输出都要有来源。配合上一页，这样才能同时检查外部承诺和内部处理依据。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3.3 节，D1–D5；与第 08 页共同表达一级数据流。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P4 仍然比较大，所以继续展开。P4.1 处理管理授权，校验范围、员工和角色事实后改变分配；P4.2 校验运行时系统身份、员工和会话；P4.3 根据校验结果和范围、分配、角色及目录求有效权限；P4.4 输出结果，并交付管理、拒绝和异常事件。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运行时输入读，是上下文校验后得到权限结论；沿管理输入读，是改变分配后返回结果。管理员查询也进入有效权限处理，但只要求操作者有会话和管理范围，不要求目标员工登录。这里同时保留几种输入，避免只画鉴权就漏掉父处理原来的管理与查询。箭头表示信息流，判断顺序再用流程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3.4 节，P4.1–P4.4；按图 3-4 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分解完成后，要从子图返回父图检查。比如 P4 对外接收管理变更、查询和鉴权请求，子图必须都能找到对应处理和结果；不能只展开鉴权，就让管理授权消失。上下文中外部系统的登录、目录和鉴权信息，也分别要落到一级处理。检查时还要避免只有输入没有结果、没有依据却生成结论，以及信息集合之间直接传递数据。如果发现缺漏，应该回到需求或分解图修正，再继续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流图适合解释判断依据从哪里来，但它不会完整表达登录跳转的时间顺序，也不适合用来展示失败后如何重试。因此，我们再用业务流程图说明参与者的动作、条件和先后关系。例如目录上报，数据流图说明旧目录如何参与处理，流程图说明确认响应丢失以后重新上报。两种图描述同一件事的不同方面，需要相互核对。接下来我们沿具体场景，把正常过程、业务规则和失败结果一起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1.3、3.2–3.4、6.1、7.5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员工先在 OA 选择统一登录，再到平台提交用户名和手机号，平台确认身份后返回登录结果，由 OA 后端验证。这里的前置条件包括系统已登记、返回目标获认可、员工有效。进入知识库时，可以复用同一浏览器里的有效统一会话，但要为知识库产生自己的登录结果，不能拿 OA 的结果直接使用。过期、篡改、重复使用或跨系统使用都应该拒绝。结果是系统识别了员工，具体操作权限仍由后续鉴权判断。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要说明生命周期。统一会话最多有效八小时，持续访问不会推迟绝对到期时间。在任一入口统一退出后，同一会话关联的其他系统，最多三秒拒绝后续受控操作；另一个浏览器的独立会话保持不变。员工停用则影响该员工的全部会话。如果平台故障，外部系统可以清理自己的关联，但必须说明统一退出尚未确认，不能宣称已经全局成功。页面不要求自动关闭，不过已经显示的页面也不能继续成为执行操作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管理员进入后台还要校验有效管理身份，普通员工即使认证成功也不能进入；管理身份取消后，后续后台访问应按新状态判断。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4.2.1–4.2.4、4.3.1、4.3.3 节；AUTH-001–004。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数据维护也要分析限制。公司和部门采用两层结构，部门名称结合所属公司识别，不能看到同名就合并。员工用户名和手机号分别唯一，五十四名部门待确认员工可以认证，但不能先分配部门角色。管理员必须明确任命，岗位名称不自动产生管理身份；同时需要保留至少一名有效最高管理员。组织停用前要处理有效关联。已经归属部门的员工改变部门，需要走调动流程，即使他目前没有角色，也不能绕过相关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消本人最高管理员身份须由另一名最高管理员操作，不能把组织资料维护理解为几个没有约束的增删改查。不同公司同名部门不合并，用户名和手机号也不能重复。规则需要同时覆盖正常维护、停用和管理权变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4.2.5–4.2.8、7.2 节；ORG-001、EMP-001、EMP-002、ADM-001。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接入的目标是让平台识别参与协作的业务系统，并明确哪些部门可以使用它。最高管理员登记系统身份、认可返回目标，再配置部门可用范围。移除某个部门或停用整个系统之前，需要显示受影响角色和员工，并由管理员确认。变更成功后最多三秒影响后续接入和鉴权。原有配置可以保留用于查询，但不能在范围无效时继续产生有效权限；重新启用时也要提示可能恢复访问，避免管理员误判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录内容由外部系统定义。平台先确认上报来源和目标一致，再检查权限标识、完整性和变更顺序，整体接受或整体拒绝。失败时保留上一次已确认目录；如果确认响应丢失，外部系统重报同一变更，不能重复建立权限或回退目录。停用必须明确表达，遗漏项不直接视为删除。新增权限不自动授予，停用项最多三秒失效，重新启用后还要重新配置角色。分析这些分支，是为了避免一次通信异常就扩大或恢复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4.2.9、4.2.10、4.3.4 节；SYS-001、PERM-001。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配置分成模板和部门角色两个场景。最高管理员维护属于某系统的模板，部门管理员在获准系统内复制模板或自建角色，并只选择这个系统的有效权限。复制后两者独立，避免一次模板调整悄悄改变多个部门。角色变更要展示影响人数，停用角色会让现有分配失去有效权限；仍有分配时不能直接删除。空权限角色可以留待配置，但不能通过受控操作。这样每种状态都有明确业务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这一组规则同时涉及归属、状态和变更后果。部门 A 修改自己的角色，不影响部门 B；权限重新启用，也要重新配置角色才恢复授予。分析清楚这些变化后，分配与鉴权才有明确的有效角色事实可用。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4.2.11、4.2.12 节；ROLE-001、ROLE-002。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配角色前，需要展示员工当前角色和目标角色。如果已经有旧角色，就明确提示替换，因为每员工每系统只能有一个未撤销分配。批量处理要分清两个层次：只要混入其他部门员工，就整批拒绝；如果整批范围合法，但个别人状态已经变化，可以逐项失败并保留成功项。界面必须显示逐人结果，不能用“已受理”表示全部成功。两人同时换角发生冲突时，要提示重新确认，不能悄悄用最后一次操作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撤权场景需要明确范围。撤销 OA 角色，不应影响知识库角色，也不会直接结束员工的身份会话。没有角色时重复撤权，可以返回已无授权。批量操作中成功项保留，失败项可以重新提交。这里还要区分保存成功和生效时间：每个成功项从变更提交完成起，最多三秒影响后续鉴权，整批受理不等于整批已经生效。界面需要给出结果和最迟生效期限，防止管理员以为点击按钮的一刻就完成了全部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4.2.13、4.2.14、5.2.1 节；GRANT-001、GRANT-002。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这张判断图，外部系统准备执行操作时，平台先确认系统身份与目标一致，再检查员工和当前会话，随后检查系统状态、部门范围、角色分配、角色与权限项。所有必要条件成立，当前角色又包含这个操作，才返回允许。无法可靠判断时，外部系统也不能执行。允许之后仍由外部系统检查“本人”等业务数据范围。这里分析的是决策规则，鉴权本身不修改角色，也不要求平台回滚已经开始执行的外部业务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管理员查询使用相同的有效权限含义，但不要求目标员工已经登录。前端隐藏按钮也不能代替后端操作判断；查询要能解释无角色、范围失效等原因，帮助管理员区分配置与当前结果。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3.4、4.2.15、4.2.16、6.1、6.2 节；AUTHZ-001、QUERY-001。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员工停用和调动都跨越多个业务责任。停用需要撤销全部系统角色，并让所有会话失效，重新启用也不自动恢复旧分配。调动则采用人工协作：原部门先撤完全部角色并核对生效，最高管理员取消旧部门管理员身份、修改部门，最后新部门重新授权。新部门不继承旧角色或管理身份。如果调动同时又发生授权，要识别冲突并要求重新处理。用这个场景检查，可以发现单看员工资料修改时容易遗漏的权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即使没有业务角色，调动也必须经过相同检查，不能直接改员工部门。最高管理员可以代办原部门撤权。用这类跨责任场景检查模块，能发现只看资料维护时遗漏的会话和分配约束。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4.2.6、4.2.7、4.3.5 节；EMP-001、EMP-002。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员查询时，需要看到员工在各系统的角色，以及失效原因。例如角色还在，但系统已经停用，就应显示配置存在、当前无效。审计则回答是谁、何时、对什么范围做了什么，以及结果如何。部门管理员只能查看本部门相关事件，无法归属的系统异常只对最高管理员开放。认证、退出、管理变更、目录处理和鉴权拒绝都要可追溯；允许鉴权只计入统计。敏感登录资料不能进入记录或导出，历史归属也不能简单替换成员工现在的部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之外，还要分析失败时的行为。技术失败率预算不能容忍错误允许；部门隔离覆盖列表、详情、批量和导出。鉴权超时或平台不可用，外部系统拒绝操作并提示重试。审计存储失败时，管理变更不提交，新登录不确认成功，新的受控操作暂停；已经结束的会话不能因此恢复。故障期间要明确报告审计缺口，不承诺完整补录。可用性还包括清楚的影响确认和可执行提示，让用户知道结果以及下一步可以怎么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4.2.16、4.2.17、6.2、7.1–7.3 节；QUERY-001、AUDIT-001。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现在从逻辑信息处理过渡到模块责任。P1 对应身份认证与会话，P2 对应组织与管理范围，P4 对应授权与鉴权，P5 对应审计与统计。P3 包含两组不同变化，所以进一步拆成系统接入，以及权限目录与角色。调整登录返回位置一般不需要改角色内容，新增权限也不要求改变系统身份。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录与角色放在一起，因为角色只能选择有效目录，目录停用又直接影响角色内容。员工取得哪个角色归授权模块。规则关联紧密的部分集中，变化来源不同的部分分开，得到六个模块。代价是要明确协作，不能各自判断互不一致。图里箭头表示责任映射，不是运行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3.3、3.4、4.2 节；六模块为既有项目责任划分的教学说明。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设计可以继续问：信息加工怎样组织成责任层次。鉴权适合用变换分析。把系统、员工、会话与操作整理成可信上下文，是输入侧；结合有效事实求权限，是核心变换；把结论、原因和需要记录的事件整理成结果，是输出侧。由此识别各部分责任，但仍受范围、状态及失败规则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接收登录、配置管理、鉴权和目录上报，可以用事务分析识别按请求目的选择的处理分支，再分别细化。这里事务指请求类别和处理路径，不讨论数据库事务。图的上半部分是变换示意，下半部分是候选控制层次，不能把 DFD 箭头直接改名成调用。方法帮助分解，不要求每个业务硬套相同形状。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依据：《统一权限管理系统需求规格说明书》2.1，依据需求第 3、4 章作教学推导；不新增业务需求，不确定程序调用。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模块还要评价质量。内聚看职责是否围绕共同规则，例如登录、复用、到期与退出共同影响会话状态；耦合看它需要了解多少别人的细节。授权需要员工归属事实，但不应再发明一套部门维护规则。信息隐藏要求各模块负责自己的信息和规则，向协作者提供必要事实或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拿变化检验会更具体：新增权限主要涉及目录角色，修改会话期限主要涉及身份；改成多角色时，分配、查询和权限合并都要重新分析。影响不一定能消除，但应该能定位。当前分析到责任、业务输入输出与异常都能说明就停止，再拆类和技术层次会超出本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5.3、7.5 节；模块质量评价为教学推导。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分析要把“支持一万人”补成负载、时间和测量边界。一万账号在六十秒内发起完整登录，统计从登录跳转到业务系统验证完成；持续鉴权每秒一千次，运行五分钟。两者技术失败率都不超过百分之一。管理员并发也持续五分钟，常用操作 P95 不超过三秒，还要与持续鉴权一起测试。最后单独检查变更三秒生效，不能把响应快当作权限正确。这些都是验收目标，需要记录环境并实测，当前讲述不将目标当作已达结果。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批量成功项分别计时，旧允许结果不能反复访问续期。技术失败率预算不容忍错误允许，不能用平均耗时代替 P95。测试还要报告硬件、实际完成量、失败和超时；浏览器支持主流桌面 Chrome 与 Edge，课程范围不要求移动端和生产级多活容灾。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2.2、2.3.4、5、6.2、7.1、7.2 节；ACC-P-001–005。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用一个具体规则把分析串起来：撤权后三秒拒绝来自撤权用例和生效上限；P4.1 改变分配，P4.3 根据新事实形成结论；授权与鉴权负责这两组责任，相关事实和审计由对应模块协作；验收观察变更后三秒以后的请求是否仍有错误允许。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用目录停用、批量失败、员工调动做同样检查，发现遗漏、矛盾与不明确表述。如果提出一个系统多个角色，先澄清合并和撤销语义，再检查数据流、职责和验收影响。结构化模型让讨论有共同依据，也保留了可修改的边界。备课表保留全部功能及性能验收位置，课程检查时可以沿一条规则继续追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依据：《统一权限管理系统需求规格说明书》2.1，第 4.2.14、5.2、7.4、7.5 节；ACC-F-014、ACC-P-005。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099756a5249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7a6b1118646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253c138a246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154eb7bc045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598ad616d43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d05b27c1048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86A8BA-DD3B-48DA-8591-936B1CDF2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1069D3-350D-42DE-9C69-5479AB51F9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E9B058-A186-4012-9283-1298E16B1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E543F9-D069-4CCC-9766-337B92C0F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379117-65A8-4BEA-8777-739F102440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5BC2DB-3381-4E94-A53D-B93D727FC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F00E4B-02B8-4211-92D9-8C857CCE56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78C452-2E58-4586-8287-C8D64BDF65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6B8E98-4C77-4A90-9AC9-4A497A7A95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D1FDAA-2B65-47CF-BD78-704F8CF3BD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3c2b8f9964feb" /><Relationship Type="http://schemas.openxmlformats.org/officeDocument/2006/relationships/slideLayout" Target="/ppt/slideLayouts/slideLayout1.xml" Id="Rc1dd1740cfbb4edc" /><Relationship Type="http://schemas.openxmlformats.org/officeDocument/2006/relationships/slideLayout" Target="/ppt/slideLayouts/slideLayout2.xml" Id="R1ebef2e13bd84dfd" /><Relationship Type="http://schemas.openxmlformats.org/officeDocument/2006/relationships/slideLayout" Target="/ppt/slideLayouts/slideLayout3.xml" Id="R84efb81ba5194371" /><Relationship Type="http://schemas.openxmlformats.org/officeDocument/2006/relationships/slideLayout" Target="/ppt/slideLayouts/slideLayout4.xml" Id="R815657a231be47cb" /><Relationship Type="http://schemas.openxmlformats.org/officeDocument/2006/relationships/slideLayout" Target="/ppt/slideLayouts/slideLayout5.xml" Id="Ra35c59064b934b04" /><Relationship Type="http://schemas.openxmlformats.org/officeDocument/2006/relationships/slideLayout" Target="/ppt/slideLayouts/slideLayout6.xml" Id="R1cb2af8737954d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dd1740cfbb4edc"/>
    <p:sldLayoutId xmlns:r="http://schemas.openxmlformats.org/officeDocument/2006/relationships" id="2147483650" r:id="R1ebef2e13bd84dfd"/>
    <p:sldLayoutId xmlns:r="http://schemas.openxmlformats.org/officeDocument/2006/relationships" id="2147483651" r:id="R84efb81ba5194371"/>
    <p:sldLayoutId xmlns:r="http://schemas.openxmlformats.org/officeDocument/2006/relationships" id="2147483652" r:id="R815657a231be47cb"/>
    <p:sldLayoutId xmlns:r="http://schemas.openxmlformats.org/officeDocument/2006/relationships" id="2147483653" r:id="Ra35c59064b934b04"/>
    <p:sldLayoutId xmlns:r="http://schemas.openxmlformats.org/officeDocument/2006/relationships" id="2147483654" r:id="R1cb2af8737954d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06a09261d4630" /><Relationship Type="http://schemas.openxmlformats.org/officeDocument/2006/relationships/notesSlide" Target="/ppt/notesSlides/notesSlide1.xml" Id="R19510db02c4e4e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4f2bc09934232" /><Relationship Type="http://schemas.openxmlformats.org/officeDocument/2006/relationships/notesSlide" Target="/ppt/notesSlides/notesSlide2.xml" Id="R19c5fd97de204f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d30a56fd94efb" /><Relationship Type="http://schemas.openxmlformats.org/officeDocument/2006/relationships/notesSlide" Target="/ppt/notesSlides/notesSlide3.xml" Id="Rdc0e121a9b7344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3f06db48e4056" /><Relationship Type="http://schemas.openxmlformats.org/officeDocument/2006/relationships/notesSlide" Target="/ppt/notesSlides/notesSlide4.xml" Id="R5e41a65e79cf44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b88561ae8461c" /><Relationship Type="http://schemas.openxmlformats.org/officeDocument/2006/relationships/notesSlide" Target="/ppt/notesSlides/notesSlide5.xml" Id="Re52abd26efbd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5167856824d9e" /><Relationship Type="http://schemas.openxmlformats.org/officeDocument/2006/relationships/notesSlide" Target="/ppt/notesSlides/notesSlide6.xml" Id="R71dcf5adf66844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3ab26728747d2" /><Relationship Type="http://schemas.openxmlformats.org/officeDocument/2006/relationships/notesSlide" Target="/ppt/notesSlides/notesSlide7.xml" Id="R8223ea3da66342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eb4a5e3054bfa" /><Relationship Type="http://schemas.openxmlformats.org/officeDocument/2006/relationships/notesSlide" Target="/ppt/notesSlides/notesSlide8.xml" Id="R3d8e1e02c15a43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1944af2ab48c2" /><Relationship Type="http://schemas.openxmlformats.org/officeDocument/2006/relationships/notesSlide" Target="/ppt/notesSlides/notesSlide9.xml" Id="Rb1feb191027c46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65f2f83ab43c7" /><Relationship Type="http://schemas.openxmlformats.org/officeDocument/2006/relationships/notesSlide" Target="/ppt/notesSlides/notesSlide10.xml" Id="Rf4f31fde4d5c44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c2402dd4a430f" /><Relationship Type="http://schemas.openxmlformats.org/officeDocument/2006/relationships/notesSlide" Target="/ppt/notesSlides/notesSlide11.xml" Id="R449f1851938b42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8647ce5964e0d" /><Relationship Type="http://schemas.openxmlformats.org/officeDocument/2006/relationships/notesSlide" Target="/ppt/notesSlides/notesSlide12.xml" Id="Rafc9f12f21994a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18b27bb1441df" /><Relationship Type="http://schemas.openxmlformats.org/officeDocument/2006/relationships/notesSlide" Target="/ppt/notesSlides/notesSlide13.xml" Id="Rfd5fd0f5078d43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9e6da97744577" /><Relationship Type="http://schemas.openxmlformats.org/officeDocument/2006/relationships/notesSlide" Target="/ppt/notesSlides/notesSlide14.xml" Id="Raafaeb1aeaae46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6f89524164f12" /><Relationship Type="http://schemas.openxmlformats.org/officeDocument/2006/relationships/notesSlide" Target="/ppt/notesSlides/notesSlide15.xml" Id="R519766d5e9ef41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0f4c7fcde4054" /><Relationship Type="http://schemas.openxmlformats.org/officeDocument/2006/relationships/notesSlide" Target="/ppt/notesSlides/notesSlide16.xml" Id="R9f63478c5c3a4b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b312abc2b4fa6" /><Relationship Type="http://schemas.openxmlformats.org/officeDocument/2006/relationships/notesSlide" Target="/ppt/notesSlides/notesSlide17.xml" Id="R14f249fea2d744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088b7ba7649d5" /><Relationship Type="http://schemas.openxmlformats.org/officeDocument/2006/relationships/notesSlide" Target="/ppt/notesSlides/notesSlide18.xml" Id="R7867e75c8dde4f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18f043ae74729" /><Relationship Type="http://schemas.openxmlformats.org/officeDocument/2006/relationships/notesSlide" Target="/ppt/notesSlides/notesSlide19.xml" Id="R99cdbd53dcdd47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b8de80102a4e56" /><Relationship Type="http://schemas.openxmlformats.org/officeDocument/2006/relationships/notesSlide" Target="/ppt/notesSlides/notesSlide20.xml" Id="Ra1b175713eb149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9280531964881" /><Relationship Type="http://schemas.openxmlformats.org/officeDocument/2006/relationships/notesSlide" Target="/ppt/notesSlides/notesSlide21.xml" Id="R93ef54bfd4a042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f8a7888e84abb" /><Relationship Type="http://schemas.openxmlformats.org/officeDocument/2006/relationships/notesSlide" Target="/ppt/notesSlides/notesSlide22.xml" Id="Rb76ff7bb6f1049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43df67d7749f4" /><Relationship Type="http://schemas.openxmlformats.org/officeDocument/2006/relationships/notesSlide" Target="/ppt/notesSlides/notesSlide23.xml" Id="R69eb0e4a4d03424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48eb4fc8345dd" /><Relationship Type="http://schemas.openxmlformats.org/officeDocument/2006/relationships/notesSlide" Target="/ppt/notesSlides/notesSlide24.xml" Id="Re45d11c6e25c42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统一权限管理系统需求分析">
            <a:extLst xmlns:a="http://schemas.openxmlformats.org/drawingml/2006/main">
              <a:ext uri="{FF2B5EF4-FFF2-40B4-BE49-F238E27FC236}">
                <a16:creationId xmlns:a16="http://schemas.microsoft.com/office/drawing/2014/main" id="{115DA00A-0DA3-43AF-89BD-5DA9A678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统一权限管理系统需求分析</a:t>
            </a:r>
          </a:p>
        </p:txBody>
      </p:sp>
      <p:sp>
        <p:nvSpPr>
          <p:cNvPr id="2" name="结构化分析与模块分解">
            <a:extLst xmlns:a="http://schemas.openxmlformats.org/drawingml/2006/main">
              <a:ext uri="{FF2B5EF4-FFF2-40B4-BE49-F238E27FC236}">
                <a16:creationId xmlns:a16="http://schemas.microsoft.com/office/drawing/2014/main" id="{0455782F-8FCC-4C20-A27A-4E2CE381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结构化分析与模块分解</a:t>
            </a:r>
          </a:p>
        </p:txBody>
      </p:sp>
      <p:sp>
        <p:nvSpPr>
          <p:cNvPr id="3" name="围绕需求规格说明书，解释分析依据、信息处理和责任划分。">
            <a:extLst xmlns:a="http://schemas.openxmlformats.org/drawingml/2006/main">
              <a:ext uri="{FF2B5EF4-FFF2-40B4-BE49-F238E27FC236}">
                <a16:creationId xmlns:a16="http://schemas.microsoft.com/office/drawing/2014/main" id="{CC09D339-46CC-4A4A-A2FB-EEB85DCC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围绕需求规格说明书，解释分析依据、信息处理和责任划分。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5CCD22B6-105E-4F18-9639-653DD14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8602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业务问题、目标与规模">
            <a:extLst xmlns:a="http://schemas.openxmlformats.org/drawingml/2006/main">
              <a:ext uri="{FF2B5EF4-FFF2-40B4-BE49-F238E27FC236}">
                <a16:creationId xmlns:a16="http://schemas.microsoft.com/office/drawing/2014/main" id="{E85B76B9-596A-4CD8-B224-420CE95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业务问题、目标与规模</a:t>
            </a:r>
          </a:p>
        </p:txBody>
      </p:sp>
      <p:sp>
        <p:nvSpPr>
          <p:cNvPr id="2" name="各系统分别登录、分散授权，集团难以掌握员工当前的有效权限。">
            <a:extLst xmlns:a="http://schemas.openxmlformats.org/drawingml/2006/main">
              <a:ext uri="{FF2B5EF4-FFF2-40B4-BE49-F238E27FC236}">
                <a16:creationId xmlns:a16="http://schemas.microsoft.com/office/drawing/2014/main" id="{FE742CD7-8A92-426C-91E6-2E5BA29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各系统分别登录、分散授权，集团难以掌握员工当前的有效权限。</a:t>
            </a:r>
          </a:p>
        </p:txBody>
      </p:sp>
      <p:sp>
        <p:nvSpPr>
          <p:cNvPr id="3" name="统一身份、集中配置授权，在受控操作前取得当前判断。">
            <a:extLst xmlns:a="http://schemas.openxmlformats.org/drawingml/2006/main">
              <a:ext uri="{FF2B5EF4-FFF2-40B4-BE49-F238E27FC236}">
                <a16:creationId xmlns:a16="http://schemas.microsoft.com/office/drawing/2014/main" id="{5D053454-A7CB-4DB9-902B-BE56FAA2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统一身份、集中配置授权，在受控操作前取得当前判断。</a:t>
            </a:r>
          </a:p>
        </p:txBody>
      </p:sp>
      <p:sp>
        <p:nvSpPr>
          <p:cNvPr id="4" name="10 公司、101 部门、10,000 员工、17 外部系统；OA 与知识库用于演示。">
            <a:extLst xmlns:a="http://schemas.openxmlformats.org/drawingml/2006/main">
              <a:ext uri="{FF2B5EF4-FFF2-40B4-BE49-F238E27FC236}">
                <a16:creationId xmlns:a16="http://schemas.microsoft.com/office/drawing/2014/main" id="{B42A1B13-3553-43FA-87E7-CA4E13E1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 公司、101 部门、10,000 员工、17 外部系统；OA 与知识库用于演示。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11B1B87A-8DDE-441C-8EF0-49D5E0D7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0036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需求澄清：把形容词变成规则">
            <a:extLst xmlns:a="http://schemas.openxmlformats.org/drawingml/2006/main">
              <a:ext uri="{FF2B5EF4-FFF2-40B4-BE49-F238E27FC236}">
                <a16:creationId xmlns:a16="http://schemas.microsoft.com/office/drawing/2014/main" id="{10FECC89-BC9F-4A15-ABFA-EB520867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需求澄清：把形容词变成规则</a:t>
            </a:r>
          </a:p>
        </p:txBody>
      </p:sp>
      <p:sp>
        <p:nvSpPr>
          <p:cNvPr id="2" name="统一登录仍需按目标系统鉴权；实时明确为变更成功后最多 3 秒影响后续请求。">
            <a:extLst xmlns:a="http://schemas.openxmlformats.org/drawingml/2006/main">
              <a:ext uri="{FF2B5EF4-FFF2-40B4-BE49-F238E27FC236}">
                <a16:creationId xmlns:a16="http://schemas.microsoft.com/office/drawing/2014/main" id="{8FDBF15C-CA3B-473C-A2A4-6E50A81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统一登录仍需按目标系统鉴权；实时明确为变更成功后最多 3 秒影响后续请求。</a:t>
            </a:r>
          </a:p>
        </p:txBody>
      </p:sp>
      <p:sp>
        <p:nvSpPr>
          <p:cNvPr id="3" name="管理员区分全局与本部门范围；岗位名称不自动产生平台管理身份。">
            <a:extLst xmlns:a="http://schemas.openxmlformats.org/drawingml/2006/main">
              <a:ext uri="{FF2B5EF4-FFF2-40B4-BE49-F238E27FC236}">
                <a16:creationId xmlns:a16="http://schemas.microsoft.com/office/drawing/2014/main" id="{3225B69E-71C1-4E93-B86D-E5A56C8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管理员区分全局与本部门范围；岗位名称不自动产生平台管理身份。</a:t>
            </a:r>
          </a:p>
        </p:txBody>
      </p:sp>
      <p:sp>
        <p:nvSpPr>
          <p:cNvPr id="4" name="三份表格提供初始事实；54 名直属员工保留部门待确认状态，不自行猜测归属。">
            <a:extLst xmlns:a="http://schemas.openxmlformats.org/drawingml/2006/main">
              <a:ext uri="{FF2B5EF4-FFF2-40B4-BE49-F238E27FC236}">
                <a16:creationId xmlns:a16="http://schemas.microsoft.com/office/drawing/2014/main" id="{4D86B144-92DD-41B2-A37D-C0845A0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三份表格提供初始事实；54 名直属员工保留部门待确认状态，不自行猜测归属。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B7BB5509-D4FD-4EBF-B5D0-DB7F89B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4662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结构化分析的工作顺序">
            <a:extLst xmlns:a="http://schemas.openxmlformats.org/drawingml/2006/main">
              <a:ext uri="{FF2B5EF4-FFF2-40B4-BE49-F238E27FC236}">
                <a16:creationId xmlns:a16="http://schemas.microsoft.com/office/drawing/2014/main" id="{1E70F5B8-38ED-4FED-A28A-6D7B6FA2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结构化分析的工作顺序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50D0D78-3831-47B5-984C-F565E751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4EB627E-8F67-4256-96B7-FA64A839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D4CC9E0-7F1C-4676-97A8-3EB9819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E10A560-24E9-4036-9EED-2EAFD0A7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90ECE64-9847-423C-A4F0-B79B4A29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8DCE967B-0CC1-4C87-BFB3-87F2B61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57098C7-6FBC-4953-A9BF-2CC475F7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D92356D-8EC5-42E7-9114-9B5C8BB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D0FBE85-B7DA-40C7-A273-05E7197F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7810500" cy="1438275"/>
          </a:xfrm>
          <a:custGeom xmlns:a="http://schemas.openxmlformats.org/drawingml/2006/main">
            <a:pathLst>
              <a:path w="7810500" h="1438275">
                <a:moveTo>
                  <a:pt x="7810500" y="0"/>
                </a:moveTo>
                <a:cubicBezTo>
                  <a:pt x="7810500" y="1162050"/>
                  <a:pt x="0" y="923925"/>
                  <a:pt x="0" y="1438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256A0EB-3355-4271-8723-17CFDCA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766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step-0">
            <a:extLst xmlns:a="http://schemas.openxmlformats.org/drawingml/2006/main">
              <a:ext uri="{FF2B5EF4-FFF2-40B4-BE49-F238E27FC236}">
                <a16:creationId xmlns:a16="http://schemas.microsoft.com/office/drawing/2014/main" id="{8216471F-0D8D-41B6-9D76-DED56C7B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识别问题 澄清目标与范围">
            <a:extLst xmlns:a="http://schemas.openxmlformats.org/drawingml/2006/main">
              <a:ext uri="{FF2B5EF4-FFF2-40B4-BE49-F238E27FC236}">
                <a16:creationId xmlns:a16="http://schemas.microsoft.com/office/drawing/2014/main" id="{58821AF7-3D10-4EC8-BCB4-9CB65A0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识别问题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澄清目标与范围</a:t>
            </a:r>
          </a:p>
        </p:txBody>
      </p:sp>
      <p:sp>
        <p:nvSpPr>
          <p:cNvPr id="14" name="step-1">
            <a:extLst xmlns:a="http://schemas.openxmlformats.org/drawingml/2006/main">
              <a:ext uri="{FF2B5EF4-FFF2-40B4-BE49-F238E27FC236}">
                <a16:creationId xmlns:a16="http://schemas.microsoft.com/office/drawing/2014/main" id="{18435FED-B4E1-48A7-B561-BCCB4C91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参与者与边界 上下文 DFD">
            <a:extLst xmlns:a="http://schemas.openxmlformats.org/drawingml/2006/main">
              <a:ext uri="{FF2B5EF4-FFF2-40B4-BE49-F238E27FC236}">
                <a16:creationId xmlns:a16="http://schemas.microsoft.com/office/drawing/2014/main" id="{0A5F1D37-B5D3-48DA-820A-4568DC1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参与者与边界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上下文 DFD</a:t>
            </a:r>
          </a:p>
        </p:txBody>
      </p:sp>
      <p:sp>
        <p:nvSpPr>
          <p:cNvPr id="16" name="step-2">
            <a:extLst xmlns:a="http://schemas.openxmlformats.org/drawingml/2006/main">
              <a:ext uri="{FF2B5EF4-FFF2-40B4-BE49-F238E27FC236}">
                <a16:creationId xmlns:a16="http://schemas.microsoft.com/office/drawing/2014/main" id="{A9A9C160-5C0C-42C5-A695-67686CBE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分解处理 一级与关键二级 DFD">
            <a:extLst xmlns:a="http://schemas.openxmlformats.org/drawingml/2006/main">
              <a:ext uri="{FF2B5EF4-FFF2-40B4-BE49-F238E27FC236}">
                <a16:creationId xmlns:a16="http://schemas.microsoft.com/office/drawing/2014/main" id="{F4FB51B5-1968-47F0-9BC4-8C3866D4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分解处理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一级与关键二级 DFD</a:t>
            </a:r>
          </a:p>
        </p:txBody>
      </p:sp>
      <p:sp>
        <p:nvSpPr>
          <p:cNvPr id="18" name="step-3">
            <a:extLst xmlns:a="http://schemas.openxmlformats.org/drawingml/2006/main">
              <a:ext uri="{FF2B5EF4-FFF2-40B4-BE49-F238E27FC236}">
                <a16:creationId xmlns:a16="http://schemas.microsoft.com/office/drawing/2014/main" id="{2AB8FF8E-A7E3-4AA8-8259-3A22DB0E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业务词义与规则 异常及处理说明">
            <a:extLst xmlns:a="http://schemas.openxmlformats.org/drawingml/2006/main">
              <a:ext uri="{FF2B5EF4-FFF2-40B4-BE49-F238E27FC236}">
                <a16:creationId xmlns:a16="http://schemas.microsoft.com/office/drawing/2014/main" id="{7B2B8EBC-1B21-45F3-ACF5-BF3026DE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业务词义与规则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异常及处理说明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C231C1FC-3AC4-45D2-9362-27B50F74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划分模块责任 评价内聚与耦合">
            <a:extLst xmlns:a="http://schemas.openxmlformats.org/drawingml/2006/main">
              <a:ext uri="{FF2B5EF4-FFF2-40B4-BE49-F238E27FC236}">
                <a16:creationId xmlns:a16="http://schemas.microsoft.com/office/drawing/2014/main" id="{0B3A4DB3-2190-4AB9-A803-83F3299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划分模块责任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评价内聚与耦合</a:t>
            </a:r>
          </a:p>
        </p:txBody>
      </p:sp>
      <p:sp>
        <p:nvSpPr>
          <p:cNvPr id="22" name="step-5">
            <a:extLst xmlns:a="http://schemas.openxmlformats.org/drawingml/2006/main">
              <a:ext uri="{FF2B5EF4-FFF2-40B4-BE49-F238E27FC236}">
                <a16:creationId xmlns:a16="http://schemas.microsoft.com/office/drawing/2014/main" id="{2A3DBF0F-18DD-4DB4-AE05-87CE1A49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验收追踪 评审变化影响">
            <a:extLst xmlns:a="http://schemas.openxmlformats.org/drawingml/2006/main">
              <a:ext uri="{FF2B5EF4-FFF2-40B4-BE49-F238E27FC236}">
                <a16:creationId xmlns:a16="http://schemas.microsoft.com/office/drawing/2014/main" id="{4820F29C-EACA-4697-82BB-6C4FF11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验收追踪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评审变化影响</a:t>
            </a:r>
          </a:p>
        </p:txBody>
      </p:sp>
      <p:sp>
        <p:nvSpPr>
          <p:cNvPr id="24" name="继续细化与核对">
            <a:extLst xmlns:a="http://schemas.openxmlformats.org/drawingml/2006/main">
              <a:ext uri="{FF2B5EF4-FFF2-40B4-BE49-F238E27FC236}">
                <a16:creationId xmlns:a16="http://schemas.microsoft.com/office/drawing/2014/main" id="{2AD84398-626A-4F44-B83E-1281193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194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继续细化与核对</a:t>
            </a:r>
          </a:p>
        </p:txBody>
      </p:sp>
      <p:sp>
        <p:nvSpPr>
          <p:cNvPr id="25" name="图中箭头表示分析工作的推进；发现不一致时回到相关步骤修正">
            <a:extLst xmlns:a="http://schemas.openxmlformats.org/drawingml/2006/main">
              <a:ext uri="{FF2B5EF4-FFF2-40B4-BE49-F238E27FC236}">
                <a16:creationId xmlns:a16="http://schemas.microsoft.com/office/drawing/2014/main" id="{0A353DBA-2551-487D-9000-35C3C9F5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图中箭头表示分析工作的推进；发现不一致时回到相关步骤修正</a:t>
            </a:r>
          </a:p>
        </p:txBody>
      </p:sp>
      <p:sp>
        <p:nvSpPr>
          <p:cNvPr id="26" name="按问题逐层分解，再用场景和验收反查；发现矛盾时回到上一层修正。">
            <a:extLst xmlns:a="http://schemas.openxmlformats.org/drawingml/2006/main">
              <a:ext uri="{FF2B5EF4-FFF2-40B4-BE49-F238E27FC236}">
                <a16:creationId xmlns:a16="http://schemas.microsoft.com/office/drawing/2014/main" id="{62D637D8-3230-4C01-9555-921601E7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按问题逐层分解，再用场景和验收反查；发现矛盾时回到上一层修正。</a:t>
            </a:r>
          </a:p>
        </p:txBody>
      </p:sp>
      <p:sp>
        <p:nvSpPr>
          <p:cNvPr id="27" name="04">
            <a:extLst xmlns:a="http://schemas.openxmlformats.org/drawingml/2006/main">
              <a:ext uri="{FF2B5EF4-FFF2-40B4-BE49-F238E27FC236}">
                <a16:creationId xmlns:a16="http://schemas.microsoft.com/office/drawing/2014/main" id="{6194EDFD-CD23-4A2C-AF52-2BA54446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6193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参与者与系统边界">
            <a:extLst xmlns:a="http://schemas.openxmlformats.org/drawingml/2006/main">
              <a:ext uri="{FF2B5EF4-FFF2-40B4-BE49-F238E27FC236}">
                <a16:creationId xmlns:a16="http://schemas.microsoft.com/office/drawing/2014/main" id="{A7B9DDFA-1000-4A17-85E7-8430A24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参与者与系统边界</a:t>
            </a:r>
          </a:p>
        </p:txBody>
      </p:sp>
      <p:sp>
        <p:nvSpPr>
          <p:cNvPr id="2" name="员工使用统一认证入口；最高管理员管理全局；部门管理员维护本部门员工、角色 与授权。">
            <a:extLst xmlns:a="http://schemas.openxmlformats.org/drawingml/2006/main">
              <a:ext uri="{FF2B5EF4-FFF2-40B4-BE49-F238E27FC236}">
                <a16:creationId xmlns:a16="http://schemas.microsoft.com/office/drawing/2014/main" id="{FA93E2C3-6ABE-43C2-9B10-D6EC8475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员工使用统一认证入口；最高管理员管理全局；部门管理员维护本部门员工、角色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与授权。</a:t>
            </a:r>
          </a:p>
        </p:txBody>
      </p:sp>
      <p:sp>
        <p:nvSpPr>
          <p:cNvPr id="3" name="平台判断身份和权限；外部系统保存业务记录、执行操作，检查“本人”等业务数 据范围。">
            <a:extLst xmlns:a="http://schemas.openxmlformats.org/drawingml/2006/main">
              <a:ext uri="{FF2B5EF4-FFF2-40B4-BE49-F238E27FC236}">
                <a16:creationId xmlns:a16="http://schemas.microsoft.com/office/drawing/2014/main" id="{C89A71D5-1EBF-4F6E-B647-9D7D1DCB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平台判断身份和权限；外部系统保存业务记录、执行操作，检查“本人”等业务数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据范围。</a:t>
            </a:r>
          </a:p>
        </p:txBody>
      </p:sp>
      <p:sp>
        <p:nvSpPr>
          <p:cNvPr id="4" name="本期不处理 OA 审批、不推送外部账号。用户名加手机号属于课程简化校验。">
            <a:extLst xmlns:a="http://schemas.openxmlformats.org/drawingml/2006/main">
              <a:ext uri="{FF2B5EF4-FFF2-40B4-BE49-F238E27FC236}">
                <a16:creationId xmlns:a16="http://schemas.microsoft.com/office/drawing/2014/main" id="{67D447AA-2A1E-4499-8AA1-E4D015E9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本期不处理 OA 审批、不推送外部账号。用户名加手机号属于课程简化校验。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6D833351-AF11-4328-9965-8A7D9ADF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0826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业务模型与核心约束">
            <a:extLst xmlns:a="http://schemas.openxmlformats.org/drawingml/2006/main">
              <a:ext uri="{FF2B5EF4-FFF2-40B4-BE49-F238E27FC236}">
                <a16:creationId xmlns:a16="http://schemas.microsoft.com/office/drawing/2014/main" id="{32E106DB-7BF4-4058-9EAB-F8D1B53A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业务模型与核心约束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ABCC26F-AAAF-4575-B262-F76F186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71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EC65EF8-950A-45FE-807B-06BEA66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24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29DEED5-A7B3-4566-8BF7-65517D0B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71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3568DFD-C4C8-47AE-A7C9-96451794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24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C0BAAA8-8159-47A1-904E-7D4EF05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F47F6B0-6BD9-4EA5-B11C-9B0B968F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2FA559C-3F75-4373-B3BF-21E94600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A4F3976-8954-4167-A6A8-199480B6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step-0">
            <a:extLst xmlns:a="http://schemas.openxmlformats.org/drawingml/2006/main">
              <a:ext uri="{FF2B5EF4-FFF2-40B4-BE49-F238E27FC236}">
                <a16:creationId xmlns:a16="http://schemas.microsoft.com/office/drawing/2014/main" id="{EE2AB214-7515-4BCA-A4B3-462DDE54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员工">
            <a:extLst xmlns:a="http://schemas.openxmlformats.org/drawingml/2006/main">
              <a:ext uri="{FF2B5EF4-FFF2-40B4-BE49-F238E27FC236}">
                <a16:creationId xmlns:a16="http://schemas.microsoft.com/office/drawing/2014/main" id="{D354D54C-5871-49DD-9E93-9ACF0FF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</a:t>
            </a:r>
          </a:p>
        </p:txBody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8151DEE8-BC7F-4134-92B5-24DAEF5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部门角色 归属一个部门和系统">
            <a:extLst xmlns:a="http://schemas.openxmlformats.org/drawingml/2006/main">
              <a:ext uri="{FF2B5EF4-FFF2-40B4-BE49-F238E27FC236}">
                <a16:creationId xmlns:a16="http://schemas.microsoft.com/office/drawing/2014/main" id="{D9F3DE1A-B7F9-4015-A8CD-4AA9897E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部门角色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归属一个部门和系统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E66BB382-29D8-4AE9-8265-7688DD22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系统权限 功能点＋操作动作">
            <a:extLst xmlns:a="http://schemas.openxmlformats.org/drawingml/2006/main">
              <a:ext uri="{FF2B5EF4-FFF2-40B4-BE49-F238E27FC236}">
                <a16:creationId xmlns:a16="http://schemas.microsoft.com/office/drawing/2014/main" id="{247B7423-3620-46A6-B7E6-18F5DC95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系统权限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功能点＋操作动作</a:t>
            </a:r>
          </a:p>
        </p:txBody>
      </p:sp>
      <p:sp>
        <p:nvSpPr>
          <p:cNvPr id="16" name="按系统分配">
            <a:extLst xmlns:a="http://schemas.openxmlformats.org/drawingml/2006/main">
              <a:ext uri="{FF2B5EF4-FFF2-40B4-BE49-F238E27FC236}">
                <a16:creationId xmlns:a16="http://schemas.microsoft.com/office/drawing/2014/main" id="{A3F0254C-91F1-4D74-8B0C-51E6BA16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57375"/>
            <a:ext cx="971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按系统分配</a:t>
            </a:r>
          </a:p>
        </p:txBody>
      </p:sp>
      <p:sp>
        <p:nvSpPr>
          <p:cNvPr id="17" name="包含有效权限">
            <a:extLst xmlns:a="http://schemas.openxmlformats.org/drawingml/2006/main">
              <a:ext uri="{FF2B5EF4-FFF2-40B4-BE49-F238E27FC236}">
                <a16:creationId xmlns:a16="http://schemas.microsoft.com/office/drawing/2014/main" id="{3CB8BE25-B683-44F2-B4DA-7BDB2227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57375"/>
            <a:ext cx="971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包含有效权限</a:t>
            </a:r>
          </a:p>
        </p:txBody>
      </p:sp>
      <p:sp>
        <p:nvSpPr>
          <p:cNvPr id="18" name="step-5">
            <a:extLst xmlns:a="http://schemas.openxmlformats.org/drawingml/2006/main">
              <a:ext uri="{FF2B5EF4-FFF2-40B4-BE49-F238E27FC236}">
                <a16:creationId xmlns:a16="http://schemas.microsoft.com/office/drawing/2014/main" id="{5E249BB1-3C0B-486E-BA4E-30F9D8B6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全局模板">
            <a:extLst xmlns:a="http://schemas.openxmlformats.org/drawingml/2006/main">
              <a:ext uri="{FF2B5EF4-FFF2-40B4-BE49-F238E27FC236}">
                <a16:creationId xmlns:a16="http://schemas.microsoft.com/office/drawing/2014/main" id="{93F9E785-EEE5-4B5C-AF60-82EEC589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全局模板</a:t>
            </a:r>
          </a:p>
        </p:txBody>
      </p:sp>
      <p:sp>
        <p:nvSpPr>
          <p:cNvPr id="20" name="step-6">
            <a:extLst xmlns:a="http://schemas.openxmlformats.org/drawingml/2006/main">
              <a:ext uri="{FF2B5EF4-FFF2-40B4-BE49-F238E27FC236}">
                <a16:creationId xmlns:a16="http://schemas.microsoft.com/office/drawing/2014/main" id="{3F42EA1A-0AA6-43AF-8332-00E9ED75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复制后独立维护">
            <a:extLst xmlns:a="http://schemas.openxmlformats.org/drawingml/2006/main">
              <a:ext uri="{FF2B5EF4-FFF2-40B4-BE49-F238E27FC236}">
                <a16:creationId xmlns:a16="http://schemas.microsoft.com/office/drawing/2014/main" id="{AA4EFFF3-83AD-4E9C-9074-F32CACB3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复制后独立维护</a:t>
            </a:r>
          </a:p>
        </p:txBody>
      </p:sp>
      <p:sp>
        <p:nvSpPr>
          <p:cNvPr id="22" name="step-7">
            <a:extLst xmlns:a="http://schemas.openxmlformats.org/drawingml/2006/main">
              <a:ext uri="{FF2B5EF4-FFF2-40B4-BE49-F238E27FC236}">
                <a16:creationId xmlns:a16="http://schemas.microsoft.com/office/drawing/2014/main" id="{F71253C3-FCB8-45F2-80DD-021399AE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部门角色">
            <a:extLst xmlns:a="http://schemas.openxmlformats.org/drawingml/2006/main">
              <a:ext uri="{FF2B5EF4-FFF2-40B4-BE49-F238E27FC236}">
                <a16:creationId xmlns:a16="http://schemas.microsoft.com/office/drawing/2014/main" id="{1F375139-15DA-4147-A6F1-EEAEF93F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部门角色</a:t>
            </a:r>
          </a:p>
        </p:txBody>
      </p:sp>
      <p:sp>
        <p:nvSpPr>
          <p:cNvPr id="24" name="约束：部门与系统获准关联；员工每系统单角色；模板不直接授予">
            <a:extLst xmlns:a="http://schemas.openxmlformats.org/drawingml/2006/main">
              <a:ext uri="{FF2B5EF4-FFF2-40B4-BE49-F238E27FC236}">
                <a16:creationId xmlns:a16="http://schemas.microsoft.com/office/drawing/2014/main" id="{1C13143C-3AD5-4E4C-B541-8C51FD99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59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约束：部门与系统获准关联；员工每系统单角色；模板不直接授予</a:t>
            </a:r>
          </a:p>
        </p:txBody>
      </p:sp>
      <p:sp>
        <p:nvSpPr>
          <p:cNvPr id="25" name="上行表示授权关系，下行表示模板复制过程；不表示数据库结构">
            <a:extLst xmlns:a="http://schemas.openxmlformats.org/drawingml/2006/main">
              <a:ext uri="{FF2B5EF4-FFF2-40B4-BE49-F238E27FC236}">
                <a16:creationId xmlns:a16="http://schemas.microsoft.com/office/drawing/2014/main" id="{4894DC8B-DC67-484C-893F-4851C492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上行表示授权关系，下行表示模板复制过程；不表示数据库结构</a:t>
            </a:r>
          </a:p>
        </p:txBody>
      </p:sp>
      <p:sp>
        <p:nvSpPr>
          <p:cNvPr id="26" name="员工通过部门角色获得系统权限。每员工每系统最多一个角色，跨系统分别配置。 模板复制后 独立维护；部门可用系统不直接授权；平台管理身份不等于外部业务角色。">
            <a:extLst xmlns:a="http://schemas.openxmlformats.org/drawingml/2006/main">
              <a:ext uri="{FF2B5EF4-FFF2-40B4-BE49-F238E27FC236}">
                <a16:creationId xmlns:a16="http://schemas.microsoft.com/office/drawing/2014/main" id="{87F27965-8CC3-4715-8422-1A4ED41F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员工通过部门角色获得系统权限。每员工每系统最多一个角色，跨系统分别配置。 模板复制后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独立维护；部门可用系统不直接授权；平台管理身份不等于外部业务角色。</a:t>
            </a:r>
          </a:p>
        </p:txBody>
      </p:sp>
      <p:sp>
        <p:nvSpPr>
          <p:cNvPr id="27" name="06">
            <a:extLst xmlns:a="http://schemas.openxmlformats.org/drawingml/2006/main">
              <a:ext uri="{FF2B5EF4-FFF2-40B4-BE49-F238E27FC236}">
                <a16:creationId xmlns:a16="http://schemas.microsoft.com/office/drawing/2014/main" id="{101B7D2D-B071-4D41-94B6-17964B6F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3391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上下文 DFD：确定平台边界">
            <a:extLst xmlns:a="http://schemas.openxmlformats.org/drawingml/2006/main">
              <a:ext uri="{FF2B5EF4-FFF2-40B4-BE49-F238E27FC236}">
                <a16:creationId xmlns:a16="http://schemas.microsoft.com/office/drawing/2014/main" id="{037067F2-9DEB-4F41-88A8-5E408B63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上下文 DFD：确定平台边界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EBDDB43-B14F-49C2-BC80-08B06568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71650"/>
            <a:ext cx="2762250" cy="1152525"/>
          </a:xfrm>
          <a:custGeom xmlns:a="http://schemas.openxmlformats.org/drawingml/2006/main">
            <a:pathLst>
              <a:path w="2762250" h="1152525">
                <a:moveTo>
                  <a:pt x="0" y="0"/>
                </a:moveTo>
                <a:cubicBezTo>
                  <a:pt x="1571625" y="0"/>
                  <a:pt x="2762250" y="495300"/>
                  <a:pt x="2762250" y="1152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E772580-D5FA-443F-B86B-51B4185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289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57FCC58-01A5-4F71-8FE9-95EC380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90775"/>
            <a:ext cx="2905125" cy="923925"/>
          </a:xfrm>
          <a:custGeom xmlns:a="http://schemas.openxmlformats.org/drawingml/2006/main">
            <a:pathLst>
              <a:path w="2905125" h="923925">
                <a:moveTo>
                  <a:pt x="2905125" y="923925"/>
                </a:moveTo>
                <a:cubicBezTo>
                  <a:pt x="1714500" y="923925"/>
                  <a:pt x="0" y="92392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2808ED8-A014-46BA-B36F-02576D4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3907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95250"/>
                </a:lnTo>
                <a:lnTo>
                  <a:pt x="47625" y="66675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21A717E-20F2-4603-9923-D3198DE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81475"/>
            <a:ext cx="2762250" cy="942975"/>
          </a:xfrm>
          <a:custGeom xmlns:a="http://schemas.openxmlformats.org/drawingml/2006/main">
            <a:pathLst>
              <a:path w="2762250" h="942975">
                <a:moveTo>
                  <a:pt x="0" y="942975"/>
                </a:moveTo>
                <a:cubicBezTo>
                  <a:pt x="1571625" y="942975"/>
                  <a:pt x="2762250" y="514350"/>
                  <a:pt x="27622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8E10E8E-4E6D-45F6-829B-F7686E47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814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95250"/>
                </a:lnTo>
                <a:lnTo>
                  <a:pt x="47625" y="66675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861C6D2-5CA2-42F3-82BF-38B717FD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38575"/>
            <a:ext cx="2905125" cy="704850"/>
          </a:xfrm>
          <a:custGeom xmlns:a="http://schemas.openxmlformats.org/drawingml/2006/main">
            <a:pathLst>
              <a:path w="2905125" h="704850">
                <a:moveTo>
                  <a:pt x="2905125" y="0"/>
                </a:moveTo>
                <a:cubicBezTo>
                  <a:pt x="1714500" y="0"/>
                  <a:pt x="0" y="0"/>
                  <a:pt x="0" y="7048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C7A52BC-CC2B-49A1-9762-973C02C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481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883DCF6-FDC4-4DD5-94E9-9B85F6A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52700"/>
            <a:ext cx="2657475" cy="781050"/>
          </a:xfrm>
          <a:custGeom xmlns:a="http://schemas.openxmlformats.org/drawingml/2006/main">
            <a:pathLst>
              <a:path w="2657475" h="781050">
                <a:moveTo>
                  <a:pt x="2657475" y="428625"/>
                </a:moveTo>
                <a:cubicBezTo>
                  <a:pt x="2657475" y="0"/>
                  <a:pt x="657225" y="0"/>
                  <a:pt x="0" y="781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DFF2779-63AD-4E13-AB8A-B73E0E08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30206"/>
            <a:ext cx="97767" cy="103544"/>
          </a:xfrm>
          <a:custGeom xmlns:a="http://schemas.openxmlformats.org/drawingml/2006/main">
            <a:pathLst>
              <a:path w="97767" h="103544">
                <a:moveTo>
                  <a:pt x="0" y="103544"/>
                </a:moveTo>
                <a:lnTo>
                  <a:pt x="24886" y="0"/>
                </a:lnTo>
                <a:lnTo>
                  <a:pt x="42929" y="52528"/>
                </a:lnTo>
                <a:lnTo>
                  <a:pt x="97767" y="613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DAFE947-F0D9-4AEC-9DBB-3504355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90950"/>
            <a:ext cx="2714625" cy="762000"/>
          </a:xfrm>
          <a:custGeom xmlns:a="http://schemas.openxmlformats.org/drawingml/2006/main">
            <a:pathLst>
              <a:path w="2714625" h="762000">
                <a:moveTo>
                  <a:pt x="0" y="0"/>
                </a:moveTo>
                <a:cubicBezTo>
                  <a:pt x="1190625" y="762000"/>
                  <a:pt x="2714625" y="762000"/>
                  <a:pt x="2714625" y="390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4D70245-FFB8-407A-A58C-93FEE47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1814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95250"/>
                </a:lnTo>
                <a:lnTo>
                  <a:pt x="47625" y="66675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4" name="employee">
            <a:extLst xmlns:a="http://schemas.openxmlformats.org/drawingml/2006/main">
              <a:ext uri="{FF2B5EF4-FFF2-40B4-BE49-F238E27FC236}">
                <a16:creationId xmlns:a16="http://schemas.microsoft.com/office/drawing/2014/main" id="{8C8589FF-A74A-4089-A746-B8DFE071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E1 员工">
            <a:extLst xmlns:a="http://schemas.openxmlformats.org/drawingml/2006/main">
              <a:ext uri="{FF2B5EF4-FFF2-40B4-BE49-F238E27FC236}">
                <a16:creationId xmlns:a16="http://schemas.microsoft.com/office/drawing/2014/main" id="{92634169-4A48-4426-8385-EA00BD88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E1 员工</a:t>
            </a:r>
          </a:p>
        </p:txBody>
      </p:sp>
      <p:sp>
        <p:nvSpPr>
          <p:cNvPr id="16" name="admin">
            <a:extLst xmlns:a="http://schemas.openxmlformats.org/drawingml/2006/main">
              <a:ext uri="{FF2B5EF4-FFF2-40B4-BE49-F238E27FC236}">
                <a16:creationId xmlns:a16="http://schemas.microsoft.com/office/drawing/2014/main" id="{D0E85F66-6569-4E2A-BB90-74AA4114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E2 管理员">
            <a:extLst xmlns:a="http://schemas.openxmlformats.org/drawingml/2006/main">
              <a:ext uri="{FF2B5EF4-FFF2-40B4-BE49-F238E27FC236}">
                <a16:creationId xmlns:a16="http://schemas.microsoft.com/office/drawing/2014/main" id="{07191353-01E6-42F0-A472-AFA349BA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E2 管理员</a:t>
            </a:r>
          </a:p>
        </p:txBody>
      </p:sp>
      <p:sp>
        <p:nvSpPr>
          <p:cNvPr id="18" name="p0">
            <a:extLst xmlns:a="http://schemas.openxmlformats.org/drawingml/2006/main">
              <a:ext uri="{FF2B5EF4-FFF2-40B4-BE49-F238E27FC236}">
                <a16:creationId xmlns:a16="http://schemas.microsoft.com/office/drawing/2014/main" id="{B9D5D2E9-66F4-4C7C-8987-31DCC514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P0 统一权限管理系统">
            <a:extLst xmlns:a="http://schemas.openxmlformats.org/drawingml/2006/main">
              <a:ext uri="{FF2B5EF4-FFF2-40B4-BE49-F238E27FC236}">
                <a16:creationId xmlns:a16="http://schemas.microsoft.com/office/drawing/2014/main" id="{EF799334-490E-4982-A431-73F8B97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P0</a:t>
            </a:r>
          </a:p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统一权限管理系统</a:t>
            </a:r>
          </a:p>
        </p:txBody>
      </p:sp>
      <p:sp>
        <p:nvSpPr>
          <p:cNvPr id="20" name="system">
            <a:extLst xmlns:a="http://schemas.openxmlformats.org/drawingml/2006/main">
              <a:ext uri="{FF2B5EF4-FFF2-40B4-BE49-F238E27FC236}">
                <a16:creationId xmlns:a16="http://schemas.microsoft.com/office/drawing/2014/main" id="{CEC62279-5A25-4052-9F38-CDDF35C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289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E3 外部系统">
            <a:extLst xmlns:a="http://schemas.openxmlformats.org/drawingml/2006/main">
              <a:ext uri="{FF2B5EF4-FFF2-40B4-BE49-F238E27FC236}">
                <a16:creationId xmlns:a16="http://schemas.microsoft.com/office/drawing/2014/main" id="{940BCCDC-7A28-4CFB-8DA9-2D847D77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2019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E3 外部系统</a:t>
            </a:r>
          </a:p>
        </p:txBody>
      </p:sp>
      <p:sp>
        <p:nvSpPr>
          <p:cNvPr id="22" name="F1 登录／退出请求">
            <a:extLst xmlns:a="http://schemas.openxmlformats.org/drawingml/2006/main">
              <a:ext uri="{FF2B5EF4-FFF2-40B4-BE49-F238E27FC236}">
                <a16:creationId xmlns:a16="http://schemas.microsoft.com/office/drawing/2014/main" id="{55F04094-0984-4CE8-B996-5477D776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14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F1 登录／退出请求</a:t>
            </a:r>
          </a:p>
        </p:txBody>
      </p:sp>
      <p:sp>
        <p:nvSpPr>
          <p:cNvPr id="23" name="F2 身份／会话结果">
            <a:extLst xmlns:a="http://schemas.openxmlformats.org/drawingml/2006/main">
              <a:ext uri="{FF2B5EF4-FFF2-40B4-BE49-F238E27FC236}">
                <a16:creationId xmlns:a16="http://schemas.microsoft.com/office/drawing/2014/main" id="{7C076874-D266-4D33-BE09-1A55606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F2 身份／会话结果</a:t>
            </a:r>
          </a:p>
        </p:txBody>
      </p:sp>
      <p:sp>
        <p:nvSpPr>
          <p:cNvPr id="24" name="F3 登录／管理／查询">
            <a:extLst xmlns:a="http://schemas.openxmlformats.org/drawingml/2006/main">
              <a:ext uri="{FF2B5EF4-FFF2-40B4-BE49-F238E27FC236}">
                <a16:creationId xmlns:a16="http://schemas.microsoft.com/office/drawing/2014/main" id="{BE558355-F1AA-4252-983E-C2579B8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24425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F3 登录／管理／查询</a:t>
            </a:r>
          </a:p>
        </p:txBody>
      </p:sp>
      <p:sp>
        <p:nvSpPr>
          <p:cNvPr id="25" name="F4 处理／查询结果">
            <a:extLst xmlns:a="http://schemas.openxmlformats.org/drawingml/2006/main">
              <a:ext uri="{FF2B5EF4-FFF2-40B4-BE49-F238E27FC236}">
                <a16:creationId xmlns:a16="http://schemas.microsoft.com/office/drawing/2014/main" id="{83313C6D-E4DF-429D-BAF9-BBE0A3A3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F4 处理／查询结果</a:t>
            </a:r>
          </a:p>
        </p:txBody>
      </p:sp>
      <p:sp>
        <p:nvSpPr>
          <p:cNvPr id="26" name="F5 登录验证／鉴权／目录">
            <a:extLst xmlns:a="http://schemas.openxmlformats.org/drawingml/2006/main">
              <a:ext uri="{FF2B5EF4-FFF2-40B4-BE49-F238E27FC236}">
                <a16:creationId xmlns:a16="http://schemas.microsoft.com/office/drawing/2014/main" id="{07157B87-2FE2-4DEC-9DE1-CED19CBF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240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F5 登录验证／鉴权／目录</a:t>
            </a:r>
          </a:p>
        </p:txBody>
      </p:sp>
      <p:sp>
        <p:nvSpPr>
          <p:cNvPr id="27" name="F6 身份／鉴权／确认结果">
            <a:extLst xmlns:a="http://schemas.openxmlformats.org/drawingml/2006/main">
              <a:ext uri="{FF2B5EF4-FFF2-40B4-BE49-F238E27FC236}">
                <a16:creationId xmlns:a16="http://schemas.microsoft.com/office/drawing/2014/main" id="{B34DC85B-9E87-4A69-9919-1D175112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625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F6 身份／鉴权／确认结果</a:t>
            </a:r>
          </a:p>
        </p:txBody>
      </p:sp>
      <p:sp>
        <p:nvSpPr>
          <p:cNvPr id="28" name="F5 同时包含登录接入；所有连线均为边界信息流">
            <a:extLst xmlns:a="http://schemas.openxmlformats.org/drawingml/2006/main">
              <a:ext uri="{FF2B5EF4-FFF2-40B4-BE49-F238E27FC236}">
                <a16:creationId xmlns:a16="http://schemas.microsoft.com/office/drawing/2014/main" id="{8301F058-55ED-4F00-98CE-430A16B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5305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F5 同时包含登录接入；所有连线均为边界信息流</a:t>
            </a:r>
          </a:p>
        </p:txBody>
      </p:sp>
      <p:sp>
        <p:nvSpPr>
          <p:cNvPr id="29" name="P0 表示整个平台，F1–F6 覆盖外部输入输出。箭头表示信息流，业务记录留在外部。">
            <a:extLst xmlns:a="http://schemas.openxmlformats.org/drawingml/2006/main">
              <a:ext uri="{FF2B5EF4-FFF2-40B4-BE49-F238E27FC236}">
                <a16:creationId xmlns:a16="http://schemas.microsoft.com/office/drawing/2014/main" id="{111D6749-79DA-4696-B138-304F3A5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P0 表示整个平台，F1–F6 覆盖外部输入输出。箭头表示信息流，业务记录留在外部。</a:t>
            </a:r>
          </a:p>
        </p:txBody>
      </p:sp>
      <p:sp>
        <p:nvSpPr>
          <p:cNvPr id="30" name="07">
            <a:extLst xmlns:a="http://schemas.openxmlformats.org/drawingml/2006/main">
              <a:ext uri="{FF2B5EF4-FFF2-40B4-BE49-F238E27FC236}">
                <a16:creationId xmlns:a16="http://schemas.microsoft.com/office/drawing/2014/main" id="{FB6AED5A-6C25-4946-AFD9-F0075FBD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1805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一级 DFD：外部请求如何分流">
            <a:extLst xmlns:a="http://schemas.openxmlformats.org/drawingml/2006/main">
              <a:ext uri="{FF2B5EF4-FFF2-40B4-BE49-F238E27FC236}">
                <a16:creationId xmlns:a16="http://schemas.microsoft.com/office/drawing/2014/main" id="{D7C4527D-6871-4134-B9B4-545E2277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一级 DFD：外部请求如何分流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2E7859A-8616-42DB-942F-5EC7D3DD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24025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8A654907-28B9-4262-A668-107CDFB3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FC4C9F2-CF0A-4332-843A-E264381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85975"/>
            <a:ext cx="5133975" cy="9525"/>
          </a:xfrm>
          <a:custGeom xmlns:a="http://schemas.openxmlformats.org/drawingml/2006/main">
            <a:pathLst>
              <a:path w="5133975" h="9525">
                <a:moveTo>
                  <a:pt x="513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9A9644D-2087-494C-B13D-E88E95DE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383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CFCD1C6-10EB-4F8F-8817-57DF6F4C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62225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A7E1400-4590-40E2-8E87-9E5AD7E4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A910C71-0147-460C-9C17-BD47CFF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24175"/>
            <a:ext cx="5133975" cy="9525"/>
          </a:xfrm>
          <a:custGeom xmlns:a="http://schemas.openxmlformats.org/drawingml/2006/main">
            <a:pathLst>
              <a:path w="5133975" h="9525">
                <a:moveTo>
                  <a:pt x="513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7FAFC58-5F28-47C2-8A39-01C1F83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765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5F97D3A-CD69-4214-90CB-FEF29C42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0425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2AB954B-3B46-4CA1-B10C-69B84908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933CD73-A5F8-4D46-9C5F-75B1EBC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62375"/>
            <a:ext cx="5133975" cy="9525"/>
          </a:xfrm>
          <a:custGeom xmlns:a="http://schemas.openxmlformats.org/drawingml/2006/main">
            <a:pathLst>
              <a:path w="5133975" h="9525">
                <a:moveTo>
                  <a:pt x="513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1835E01-E358-4E0B-BB0D-0B9B4E55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CBE9FD3-9C97-40F2-B494-BD2A711E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38625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8A3298F-C956-43C3-BBC9-E66DCA01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0BBF287-9E18-493D-AE5C-00492B5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00575"/>
            <a:ext cx="5133975" cy="9525"/>
          </a:xfrm>
          <a:custGeom xmlns:a="http://schemas.openxmlformats.org/drawingml/2006/main">
            <a:pathLst>
              <a:path w="5133975" h="9525">
                <a:moveTo>
                  <a:pt x="513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E8B128E-BFB1-4B9F-A659-991489C2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5529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3DE3025-EE0E-40AE-8D97-E35EB0F0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076825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3F8DF5D-1ADA-4EEE-B739-205C56B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292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2CA7C0B-4B7D-4E78-AB67-E1FE030C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438775"/>
            <a:ext cx="5133975" cy="9525"/>
          </a:xfrm>
          <a:custGeom xmlns:a="http://schemas.openxmlformats.org/drawingml/2006/main">
            <a:pathLst>
              <a:path w="5133975" h="9525">
                <a:moveTo>
                  <a:pt x="513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464F8BF-152F-4E2F-955B-0CCE464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3911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2" name="e0">
            <a:extLst xmlns:a="http://schemas.openxmlformats.org/drawingml/2006/main">
              <a:ext uri="{FF2B5EF4-FFF2-40B4-BE49-F238E27FC236}">
                <a16:creationId xmlns:a16="http://schemas.microsoft.com/office/drawing/2014/main" id="{30A46570-2045-4F0A-855A-5A72994E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员工／管理员／系统">
            <a:extLst xmlns:a="http://schemas.openxmlformats.org/drawingml/2006/main">
              <a:ext uri="{FF2B5EF4-FFF2-40B4-BE49-F238E27FC236}">
                <a16:creationId xmlns:a16="http://schemas.microsoft.com/office/drawing/2014/main" id="{BBDE0061-5743-4CC7-926E-4A6FE09D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员工／管理员／系统</a:t>
            </a:r>
          </a:p>
        </p:txBody>
      </p:sp>
      <p:sp>
        <p:nvSpPr>
          <p:cNvPr id="24" name="p0">
            <a:extLst xmlns:a="http://schemas.openxmlformats.org/drawingml/2006/main">
              <a:ext uri="{FF2B5EF4-FFF2-40B4-BE49-F238E27FC236}">
                <a16:creationId xmlns:a16="http://schemas.microsoft.com/office/drawing/2014/main" id="{0F940EFC-3E13-423C-8E18-1013165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504950"/>
            <a:ext cx="3000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5" name="P1 身份认证与会话">
            <a:extLst xmlns:a="http://schemas.openxmlformats.org/drawingml/2006/main">
              <a:ext uri="{FF2B5EF4-FFF2-40B4-BE49-F238E27FC236}">
                <a16:creationId xmlns:a16="http://schemas.microsoft.com/office/drawing/2014/main" id="{D86E56C3-1711-4CA5-86A3-D171D0B4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24000"/>
            <a:ext cx="2924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P1 身份认证与会话</a:t>
            </a:r>
          </a:p>
        </p:txBody>
      </p:sp>
      <p:sp>
        <p:nvSpPr>
          <p:cNvPr id="26" name="F1／F3／F5 登录、验证、退出">
            <a:extLst xmlns:a="http://schemas.openxmlformats.org/drawingml/2006/main">
              <a:ext uri="{FF2B5EF4-FFF2-40B4-BE49-F238E27FC236}">
                <a16:creationId xmlns:a16="http://schemas.microsoft.com/office/drawing/2014/main" id="{247C4DF9-8FD6-4C33-B6AA-659C0E50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287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F1／F3／F5 登录、验证、退出</a:t>
            </a:r>
          </a:p>
        </p:txBody>
      </p:sp>
      <p:sp>
        <p:nvSpPr>
          <p:cNvPr id="27" name="F2／F4／F6 身份、会话结果">
            <a:extLst xmlns:a="http://schemas.openxmlformats.org/drawingml/2006/main">
              <a:ext uri="{FF2B5EF4-FFF2-40B4-BE49-F238E27FC236}">
                <a16:creationId xmlns:a16="http://schemas.microsoft.com/office/drawing/2014/main" id="{F2A18BFE-9441-4BA0-AC47-4A6C2BD4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7716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F2／F4／F6 身份、会话结果</a:t>
            </a:r>
          </a:p>
        </p:txBody>
      </p:sp>
      <p:sp>
        <p:nvSpPr>
          <p:cNvPr id="28" name="e1">
            <a:extLst xmlns:a="http://schemas.openxmlformats.org/drawingml/2006/main">
              <a:ext uri="{FF2B5EF4-FFF2-40B4-BE49-F238E27FC236}">
                <a16:creationId xmlns:a16="http://schemas.microsoft.com/office/drawing/2014/main" id="{0B83F127-6214-433E-8623-C660E9F6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9" name="管理员">
            <a:extLst xmlns:a="http://schemas.openxmlformats.org/drawingml/2006/main">
              <a:ext uri="{FF2B5EF4-FFF2-40B4-BE49-F238E27FC236}">
                <a16:creationId xmlns:a16="http://schemas.microsoft.com/office/drawing/2014/main" id="{BBE0F98E-BF07-421A-901F-484DB4B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</p:txBody>
      </p:sp>
      <p:sp>
        <p:nvSpPr>
          <p:cNvPr id="30" name="p1">
            <a:extLst xmlns:a="http://schemas.openxmlformats.org/drawingml/2006/main">
              <a:ext uri="{FF2B5EF4-FFF2-40B4-BE49-F238E27FC236}">
                <a16:creationId xmlns:a16="http://schemas.microsoft.com/office/drawing/2014/main" id="{54BE9F5A-5085-4C6D-BADB-C9C91A49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43150"/>
            <a:ext cx="3000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1" name="P2 组织与管理范围">
            <a:extLst xmlns:a="http://schemas.openxmlformats.org/drawingml/2006/main">
              <a:ext uri="{FF2B5EF4-FFF2-40B4-BE49-F238E27FC236}">
                <a16:creationId xmlns:a16="http://schemas.microsoft.com/office/drawing/2014/main" id="{C47A5494-B7BE-430D-B7A0-41EC2FED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62200"/>
            <a:ext cx="2924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P2 组织与管理范围</a:t>
            </a:r>
          </a:p>
        </p:txBody>
      </p:sp>
      <p:sp>
        <p:nvSpPr>
          <p:cNvPr id="32" name="F3 组织、员工、任命变更">
            <a:extLst xmlns:a="http://schemas.openxmlformats.org/drawingml/2006/main">
              <a:ext uri="{FF2B5EF4-FFF2-40B4-BE49-F238E27FC236}">
                <a16:creationId xmlns:a16="http://schemas.microsoft.com/office/drawing/2014/main" id="{C944E3A0-23DC-481C-B4F9-8075AC0F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669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F3 组织、员工、任命变更</a:t>
            </a:r>
          </a:p>
        </p:txBody>
      </p:sp>
      <p:sp>
        <p:nvSpPr>
          <p:cNvPr id="33" name="F4 处理、查询结果">
            <a:extLst xmlns:a="http://schemas.openxmlformats.org/drawingml/2006/main">
              <a:ext uri="{FF2B5EF4-FFF2-40B4-BE49-F238E27FC236}">
                <a16:creationId xmlns:a16="http://schemas.microsoft.com/office/drawing/2014/main" id="{F7427B77-7677-43DE-8E7F-4EEE9E87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98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F4 处理、查询结果</a:t>
            </a:r>
          </a:p>
        </p:txBody>
      </p:sp>
      <p:sp>
        <p:nvSpPr>
          <p:cNvPr id="34" name="e2">
            <a:extLst xmlns:a="http://schemas.openxmlformats.org/drawingml/2006/main">
              <a:ext uri="{FF2B5EF4-FFF2-40B4-BE49-F238E27FC236}">
                <a16:creationId xmlns:a16="http://schemas.microsoft.com/office/drawing/2014/main" id="{4AE0E4EC-1ECA-4F43-A0B2-630D309E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5" name="管理员／外部系统">
            <a:extLst xmlns:a="http://schemas.openxmlformats.org/drawingml/2006/main">
              <a:ext uri="{FF2B5EF4-FFF2-40B4-BE49-F238E27FC236}">
                <a16:creationId xmlns:a16="http://schemas.microsoft.com/office/drawing/2014/main" id="{768D81ED-C1B9-4767-A6FE-7E2FBC5C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管理员／外部系统</a:t>
            </a:r>
          </a:p>
        </p:txBody>
      </p:sp>
      <p:sp>
        <p:nvSpPr>
          <p:cNvPr id="36" name="p2">
            <a:extLst xmlns:a="http://schemas.openxmlformats.org/drawingml/2006/main">
              <a:ext uri="{FF2B5EF4-FFF2-40B4-BE49-F238E27FC236}">
                <a16:creationId xmlns:a16="http://schemas.microsoft.com/office/drawing/2014/main" id="{47A9BB0B-D79C-4461-81C8-382D4FDA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81350"/>
            <a:ext cx="3000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7" name="P3 系统目录与角色">
            <a:extLst xmlns:a="http://schemas.openxmlformats.org/drawingml/2006/main">
              <a:ext uri="{FF2B5EF4-FFF2-40B4-BE49-F238E27FC236}">
                <a16:creationId xmlns:a16="http://schemas.microsoft.com/office/drawing/2014/main" id="{C149D483-612A-4C95-B842-83B5E689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00400"/>
            <a:ext cx="2924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P3 系统目录与角色</a:t>
            </a:r>
          </a:p>
        </p:txBody>
      </p:sp>
      <p:sp>
        <p:nvSpPr>
          <p:cNvPr id="38" name="F3／F5 系统、目录、角色变更">
            <a:extLst xmlns:a="http://schemas.openxmlformats.org/drawingml/2006/main">
              <a:ext uri="{FF2B5EF4-FFF2-40B4-BE49-F238E27FC236}">
                <a16:creationId xmlns:a16="http://schemas.microsoft.com/office/drawing/2014/main" id="{D0658FBB-54FF-4569-B877-3A98880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051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F3／F5 系统、目录、角色变更</a:t>
            </a:r>
          </a:p>
        </p:txBody>
      </p:sp>
      <p:sp>
        <p:nvSpPr>
          <p:cNvPr id="39" name="F4／F6 处理、确认结果">
            <a:extLst xmlns:a="http://schemas.openxmlformats.org/drawingml/2006/main">
              <a:ext uri="{FF2B5EF4-FFF2-40B4-BE49-F238E27FC236}">
                <a16:creationId xmlns:a16="http://schemas.microsoft.com/office/drawing/2014/main" id="{7C95A927-251C-4DDC-BCAC-7A32D8C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480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F4／F6 处理、确认结果</a:t>
            </a:r>
          </a:p>
        </p:txBody>
      </p:sp>
      <p:sp>
        <p:nvSpPr>
          <p:cNvPr id="40" name="e3">
            <a:extLst xmlns:a="http://schemas.openxmlformats.org/drawingml/2006/main">
              <a:ext uri="{FF2B5EF4-FFF2-40B4-BE49-F238E27FC236}">
                <a16:creationId xmlns:a16="http://schemas.microsoft.com/office/drawing/2014/main" id="{3A9F9482-28A6-47EF-BD69-0B1C195B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1" name="管理员／外部系统">
            <a:extLst xmlns:a="http://schemas.openxmlformats.org/drawingml/2006/main">
              <a:ext uri="{FF2B5EF4-FFF2-40B4-BE49-F238E27FC236}">
                <a16:creationId xmlns:a16="http://schemas.microsoft.com/office/drawing/2014/main" id="{0AE3B142-67D6-4EE5-B400-FF97D05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管理员／外部系统</a:t>
            </a:r>
          </a:p>
        </p:txBody>
      </p:sp>
      <p:sp>
        <p:nvSpPr>
          <p:cNvPr id="42" name="p3">
            <a:extLst xmlns:a="http://schemas.openxmlformats.org/drawingml/2006/main">
              <a:ext uri="{FF2B5EF4-FFF2-40B4-BE49-F238E27FC236}">
                <a16:creationId xmlns:a16="http://schemas.microsoft.com/office/drawing/2014/main" id="{0E0D3407-E149-49EF-8158-321492F0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19550"/>
            <a:ext cx="3000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3" name="P4 授权与鉴权">
            <a:extLst xmlns:a="http://schemas.openxmlformats.org/drawingml/2006/main">
              <a:ext uri="{FF2B5EF4-FFF2-40B4-BE49-F238E27FC236}">
                <a16:creationId xmlns:a16="http://schemas.microsoft.com/office/drawing/2014/main" id="{C3F0C9EF-8DED-4248-ADBA-EC89D8A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38600"/>
            <a:ext cx="2924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 授权与鉴权</a:t>
            </a:r>
          </a:p>
        </p:txBody>
      </p:sp>
      <p:sp>
        <p:nvSpPr>
          <p:cNvPr id="44" name="F3／F5 分配、查询、鉴权请求">
            <a:extLst xmlns:a="http://schemas.openxmlformats.org/drawingml/2006/main">
              <a:ext uri="{FF2B5EF4-FFF2-40B4-BE49-F238E27FC236}">
                <a16:creationId xmlns:a16="http://schemas.microsoft.com/office/drawing/2014/main" id="{FD8AEBB6-4296-4113-9AAF-B578A5D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43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F3／F5 分配、查询、鉴权请求</a:t>
            </a:r>
          </a:p>
        </p:txBody>
      </p:sp>
      <p:sp>
        <p:nvSpPr>
          <p:cNvPr id="45" name="F4／F6 变更、查询、判断结果">
            <a:extLst xmlns:a="http://schemas.openxmlformats.org/drawingml/2006/main">
              <a:ext uri="{FF2B5EF4-FFF2-40B4-BE49-F238E27FC236}">
                <a16:creationId xmlns:a16="http://schemas.microsoft.com/office/drawing/2014/main" id="{F503DA45-325E-4B06-A250-51189853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286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F4／F6 变更、查询、判断结果</a:t>
            </a:r>
          </a:p>
        </p:txBody>
      </p:sp>
      <p:sp>
        <p:nvSpPr>
          <p:cNvPr id="46" name="e4">
            <a:extLst xmlns:a="http://schemas.openxmlformats.org/drawingml/2006/main">
              <a:ext uri="{FF2B5EF4-FFF2-40B4-BE49-F238E27FC236}">
                <a16:creationId xmlns:a16="http://schemas.microsoft.com/office/drawing/2014/main" id="{DF8E3B36-029A-4868-988C-23998B5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7" name="管理员">
            <a:extLst xmlns:a="http://schemas.openxmlformats.org/drawingml/2006/main">
              <a:ext uri="{FF2B5EF4-FFF2-40B4-BE49-F238E27FC236}">
                <a16:creationId xmlns:a16="http://schemas.microsoft.com/office/drawing/2014/main" id="{786DC399-2041-4CE4-803F-D07CB75E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</p:txBody>
      </p:sp>
      <p:sp>
        <p:nvSpPr>
          <p:cNvPr id="48" name="p4">
            <a:extLst xmlns:a="http://schemas.openxmlformats.org/drawingml/2006/main">
              <a:ext uri="{FF2B5EF4-FFF2-40B4-BE49-F238E27FC236}">
                <a16:creationId xmlns:a16="http://schemas.microsoft.com/office/drawing/2014/main" id="{4165F0D1-1C50-473B-8068-6927318D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57750"/>
            <a:ext cx="3000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9" name="P5 审计查询与统计">
            <a:extLst xmlns:a="http://schemas.openxmlformats.org/drawingml/2006/main">
              <a:ext uri="{FF2B5EF4-FFF2-40B4-BE49-F238E27FC236}">
                <a16:creationId xmlns:a16="http://schemas.microsoft.com/office/drawing/2014/main" id="{9076A2B4-6304-464E-BD9C-BF03B31C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876800"/>
            <a:ext cx="2924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P5 审计查询与统计</a:t>
            </a:r>
          </a:p>
        </p:txBody>
      </p:sp>
      <p:sp>
        <p:nvSpPr>
          <p:cNvPr id="50" name="F3 日志查询与导出请求">
            <a:extLst xmlns:a="http://schemas.openxmlformats.org/drawingml/2006/main">
              <a:ext uri="{FF2B5EF4-FFF2-40B4-BE49-F238E27FC236}">
                <a16:creationId xmlns:a16="http://schemas.microsoft.com/office/drawing/2014/main" id="{3B0841E9-5267-4C75-8403-27ADE31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815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F3 日志查询与导出请求</a:t>
            </a:r>
          </a:p>
        </p:txBody>
      </p:sp>
      <p:sp>
        <p:nvSpPr>
          <p:cNvPr id="51" name="F4 日志、导出、统计结果">
            <a:extLst xmlns:a="http://schemas.openxmlformats.org/drawingml/2006/main">
              <a:ext uri="{FF2B5EF4-FFF2-40B4-BE49-F238E27FC236}">
                <a16:creationId xmlns:a16="http://schemas.microsoft.com/office/drawing/2014/main" id="{2FCAAB14-BF8B-44E2-BB4F-63D871F8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1244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F4 日志、导出、统计结果</a:t>
            </a:r>
          </a:p>
        </p:txBody>
      </p:sp>
      <p:sp>
        <p:nvSpPr>
          <p:cNvPr id="52" name="展开 P0 得到 P1–P5。本页保留全部边界交换；下一页展开相同处理使用的信息集合。">
            <a:extLst xmlns:a="http://schemas.openxmlformats.org/drawingml/2006/main">
              <a:ext uri="{FF2B5EF4-FFF2-40B4-BE49-F238E27FC236}">
                <a16:creationId xmlns:a16="http://schemas.microsoft.com/office/drawing/2014/main" id="{4E537D90-305A-404C-B4AF-6A6ED895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展开 P0 得到 P1–P5。本页保留全部边界交换；下一页展开相同处理使用的信息集合。</a:t>
            </a:r>
          </a:p>
        </p:txBody>
      </p:sp>
      <p:sp>
        <p:nvSpPr>
          <p:cNvPr id="53" name="08">
            <a:extLst xmlns:a="http://schemas.openxmlformats.org/drawingml/2006/main">
              <a:ext uri="{FF2B5EF4-FFF2-40B4-BE49-F238E27FC236}">
                <a16:creationId xmlns:a16="http://schemas.microsoft.com/office/drawing/2014/main" id="{4D6C447F-A079-47AE-89DB-7CF8F30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34687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一级 DFD：处理依赖哪些事实">
            <a:extLst xmlns:a="http://schemas.openxmlformats.org/drawingml/2006/main">
              <a:ext uri="{FF2B5EF4-FFF2-40B4-BE49-F238E27FC236}">
                <a16:creationId xmlns:a16="http://schemas.microsoft.com/office/drawing/2014/main" id="{3B479655-4B11-4695-9B9C-A4DD26E8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一级 DFD：处理依赖哪些事实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68E3ECC-00D0-43B9-BF82-FF1A6098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383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FBE7B59-EC57-46BF-A092-EFD8C1B3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BDEC046-2754-47EB-BB80-A635BC4C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383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B11FF0F-3985-4242-8736-F284703C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7907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BF328C5-57D4-442C-BE18-0D4CA48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9775"/>
            <a:ext cx="1419225" cy="9525"/>
          </a:xfrm>
          <a:custGeom xmlns:a="http://schemas.openxmlformats.org/drawingml/2006/main">
            <a:pathLst>
              <a:path w="1419225" h="9525">
                <a:moveTo>
                  <a:pt x="1419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624CCEA-D634-48AB-B630-531C6841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D02E5E2-8FF6-40DA-B147-949908FF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765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EA4E4E7-5BD3-4602-8950-F5CF48B8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531E5B1-35B2-4700-BD44-95A5EA59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70A94A4-61F8-4ACE-B3BD-C6D5599A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289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C7E6F25-1983-4EEC-BC35-63A9C37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47975"/>
            <a:ext cx="1419225" cy="9525"/>
          </a:xfrm>
          <a:custGeom xmlns:a="http://schemas.openxmlformats.org/drawingml/2006/main">
            <a:pathLst>
              <a:path w="1419225" h="9525">
                <a:moveTo>
                  <a:pt x="1419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5C510BE-04E9-45D4-949E-423A8094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003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8CA1B02-164B-49C1-BBA4-5DA8452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147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8301012-7319-4AF0-9A37-409B65B2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12FB31A-6260-4260-8EDC-109A6F87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147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D3EBB59-CB94-4097-BAE6-A948F48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4671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8FB7402-B0A0-4818-8AEB-D0B7158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686175"/>
            <a:ext cx="1419225" cy="9525"/>
          </a:xfrm>
          <a:custGeom xmlns:a="http://schemas.openxmlformats.org/drawingml/2006/main">
            <a:pathLst>
              <a:path w="1419225" h="9525">
                <a:moveTo>
                  <a:pt x="1419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F7A02F7-52E0-4729-BAE2-BE015C0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6385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6AD96FB-E9B8-4AE9-BD0D-DBAC6D8A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529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616E7E8-1B29-4564-B344-04473D2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2111A3D-B8C8-444C-850F-C0085C4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529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DE981BF-192E-434D-B467-C5624129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053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485287C-A535-4DC7-AD6F-6B36569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24375"/>
            <a:ext cx="1419225" cy="9525"/>
          </a:xfrm>
          <a:custGeom xmlns:a="http://schemas.openxmlformats.org/drawingml/2006/main">
            <a:pathLst>
              <a:path w="1419225" h="9525">
                <a:moveTo>
                  <a:pt x="1419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C9DD9DE-D99C-41EA-A9AD-8CDCB889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8DDA0DE-8E80-44EA-8F74-454DDC99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911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4DD51C2-EF03-401C-AACC-3B1D950C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435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713AAAF-CA96-4BD0-AF32-925ACC0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91125"/>
            <a:ext cx="1419225" cy="9525"/>
          </a:xfrm>
          <a:custGeom xmlns:a="http://schemas.openxmlformats.org/drawingml/2006/main">
            <a:pathLst>
              <a:path w="1419225" h="952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4477586-9BF1-46DA-95C1-3C2D4689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435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5C0F88E-7224-4C5F-9B11-8770022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62575"/>
            <a:ext cx="1419225" cy="9525"/>
          </a:xfrm>
          <a:custGeom xmlns:a="http://schemas.openxmlformats.org/drawingml/2006/main">
            <a:pathLst>
              <a:path w="1419225" h="9525">
                <a:moveTo>
                  <a:pt x="1419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2B8E430-3676-4B8D-B152-D6C146F8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149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5C92F03-2FF8-43BD-9012-931344A7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6E396E3-31BC-48C3-B3BD-2524255F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4" name="D1 员工与范围 D2 系统目录角色">
            <a:extLst xmlns:a="http://schemas.openxmlformats.org/drawingml/2006/main">
              <a:ext uri="{FF2B5EF4-FFF2-40B4-BE49-F238E27FC236}">
                <a16:creationId xmlns:a16="http://schemas.microsoft.com/office/drawing/2014/main" id="{3717C894-A7FB-4142-8FB5-7B2B6897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D1 员工与范围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D2 系统目录角色</a:t>
            </a:r>
          </a:p>
        </p:txBody>
      </p:sp>
      <p:sp>
        <p:nvSpPr>
          <p:cNvPr id="35" name="b0">
            <a:extLst xmlns:a="http://schemas.openxmlformats.org/drawingml/2006/main">
              <a:ext uri="{FF2B5EF4-FFF2-40B4-BE49-F238E27FC236}">
                <a16:creationId xmlns:a16="http://schemas.microsoft.com/office/drawing/2014/main" id="{0336AD02-8129-466E-A09E-BB8E356D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04950"/>
            <a:ext cx="304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6" name="P1 身份认证与会话">
            <a:extLst xmlns:a="http://schemas.openxmlformats.org/drawingml/2006/main">
              <a:ext uri="{FF2B5EF4-FFF2-40B4-BE49-F238E27FC236}">
                <a16:creationId xmlns:a16="http://schemas.microsoft.com/office/drawing/2014/main" id="{0FE71DB8-FF30-430F-985B-2A84442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240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P1 身份认证与会话</a:t>
            </a:r>
          </a:p>
        </p:txBody>
      </p:sp>
      <p:sp>
        <p:nvSpPr>
          <p:cNvPr id="3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1CF2BB5-CCF7-44E7-A68C-9CDA812C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04950"/>
            <a:ext cx="1905000" cy="9525"/>
          </a:xfrm>
          <a:custGeom xmlns:a="http://schemas.openxmlformats.org/drawingml/2006/main"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E8E60C5-84C3-497C-9D0D-D5CA85D7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14550"/>
            <a:ext cx="1905000" cy="9525"/>
          </a:xfrm>
          <a:custGeom xmlns:a="http://schemas.openxmlformats.org/drawingml/2006/main"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9" name="D3 统一会话">
            <a:extLst xmlns:a="http://schemas.openxmlformats.org/drawingml/2006/main">
              <a:ext uri="{FF2B5EF4-FFF2-40B4-BE49-F238E27FC236}">
                <a16:creationId xmlns:a16="http://schemas.microsoft.com/office/drawing/2014/main" id="{1CE82E29-EA2B-4FA3-8FEB-9B8B7E08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2400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D3 统一会话</a:t>
            </a:r>
          </a:p>
        </p:txBody>
      </p:sp>
      <p:sp>
        <p:nvSpPr>
          <p:cNvPr id="40" name="读取身份与接入">
            <a:extLst xmlns:a="http://schemas.openxmlformats.org/drawingml/2006/main">
              <a:ext uri="{FF2B5EF4-FFF2-40B4-BE49-F238E27FC236}">
                <a16:creationId xmlns:a16="http://schemas.microsoft.com/office/drawing/2014/main" id="{8D6E3E19-644C-4CB1-9C90-C69FA975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573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读取身份与接入</a:t>
            </a:r>
          </a:p>
        </p:txBody>
      </p:sp>
      <p:sp>
        <p:nvSpPr>
          <p:cNvPr id="41" name="读取／更新会话">
            <a:extLst xmlns:a="http://schemas.openxmlformats.org/drawingml/2006/main">
              <a:ext uri="{FF2B5EF4-FFF2-40B4-BE49-F238E27FC236}">
                <a16:creationId xmlns:a16="http://schemas.microsoft.com/office/drawing/2014/main" id="{63C41C4D-6A21-4A6C-ACDE-C8EDD8F3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4573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读取／更新会话</a:t>
            </a:r>
          </a:p>
        </p:txBody>
      </p:sp>
      <p:sp>
        <p:nvSpPr>
          <p:cNvPr id="4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5F0C2EF-5EA0-4CB5-BD46-03229342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9CA039B-FCE9-4DD3-A10B-13A7AF8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4" name="D1 员工与范围">
            <a:extLst xmlns:a="http://schemas.openxmlformats.org/drawingml/2006/main">
              <a:ext uri="{FF2B5EF4-FFF2-40B4-BE49-F238E27FC236}">
                <a16:creationId xmlns:a16="http://schemas.microsoft.com/office/drawing/2014/main" id="{BA4F1923-0F15-4FAE-BEAA-A88BBC1D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D1 员工与范围</a:t>
            </a:r>
          </a:p>
        </p:txBody>
      </p:sp>
      <p:sp>
        <p:nvSpPr>
          <p:cNvPr id="45" name="b1">
            <a:extLst xmlns:a="http://schemas.openxmlformats.org/drawingml/2006/main">
              <a:ext uri="{FF2B5EF4-FFF2-40B4-BE49-F238E27FC236}">
                <a16:creationId xmlns:a16="http://schemas.microsoft.com/office/drawing/2014/main" id="{0BA306FD-A7BA-4CE0-B7D2-8B97924B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43150"/>
            <a:ext cx="304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6" name="P2 组织与管理范围">
            <a:extLst xmlns:a="http://schemas.openxmlformats.org/drawingml/2006/main">
              <a:ext uri="{FF2B5EF4-FFF2-40B4-BE49-F238E27FC236}">
                <a16:creationId xmlns:a16="http://schemas.microsoft.com/office/drawing/2014/main" id="{9A6D4392-13B8-41BC-BDAD-DDADE45A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622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P2 组织与管理范围</a:t>
            </a:r>
          </a:p>
        </p:txBody>
      </p:sp>
      <p:sp>
        <p:nvSpPr>
          <p:cNvPr id="47" name="c1">
            <a:extLst xmlns:a="http://schemas.openxmlformats.org/drawingml/2006/main">
              <a:ext uri="{FF2B5EF4-FFF2-40B4-BE49-F238E27FC236}">
                <a16:creationId xmlns:a16="http://schemas.microsoft.com/office/drawing/2014/main" id="{6B4FA1E2-320C-4C95-AD95-CF750B1A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8" name="P5 事件接收">
            <a:extLst xmlns:a="http://schemas.openxmlformats.org/drawingml/2006/main">
              <a:ext uri="{FF2B5EF4-FFF2-40B4-BE49-F238E27FC236}">
                <a16:creationId xmlns:a16="http://schemas.microsoft.com/office/drawing/2014/main" id="{3CD92173-171F-4663-84A9-45400A65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P5 事件接收</a:t>
            </a:r>
          </a:p>
        </p:txBody>
      </p:sp>
      <p:sp>
        <p:nvSpPr>
          <p:cNvPr id="49" name="读取／更新">
            <a:extLst xmlns:a="http://schemas.openxmlformats.org/drawingml/2006/main">
              <a:ext uri="{FF2B5EF4-FFF2-40B4-BE49-F238E27FC236}">
                <a16:creationId xmlns:a16="http://schemas.microsoft.com/office/drawing/2014/main" id="{1CF21E19-0417-4488-A14D-D9ECA3D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955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读取／更新</a:t>
            </a:r>
          </a:p>
        </p:txBody>
      </p:sp>
      <p:sp>
        <p:nvSpPr>
          <p:cNvPr id="50" name="管理事件">
            <a:extLst xmlns:a="http://schemas.openxmlformats.org/drawingml/2006/main">
              <a:ext uri="{FF2B5EF4-FFF2-40B4-BE49-F238E27FC236}">
                <a16:creationId xmlns:a16="http://schemas.microsoft.com/office/drawing/2014/main" id="{4C93BB28-63C1-4D48-A594-50ACA628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2955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管理事件</a:t>
            </a:r>
          </a:p>
        </p:txBody>
      </p:sp>
      <p:sp>
        <p:nvSpPr>
          <p:cNvPr id="5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988DF6D-1AB1-4EEB-9085-863DA1C1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EDA7342-0F93-4A62-B6CB-9D315DF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3" name="D2 系统目录角色">
            <a:extLst xmlns:a="http://schemas.openxmlformats.org/drawingml/2006/main">
              <a:ext uri="{FF2B5EF4-FFF2-40B4-BE49-F238E27FC236}">
                <a16:creationId xmlns:a16="http://schemas.microsoft.com/office/drawing/2014/main" id="{E4EB206C-E3B4-466D-A2AF-A66EC0A0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D2 系统目录角色</a:t>
            </a:r>
          </a:p>
        </p:txBody>
      </p:sp>
      <p:sp>
        <p:nvSpPr>
          <p:cNvPr id="54" name="b2">
            <a:extLst xmlns:a="http://schemas.openxmlformats.org/drawingml/2006/main">
              <a:ext uri="{FF2B5EF4-FFF2-40B4-BE49-F238E27FC236}">
                <a16:creationId xmlns:a16="http://schemas.microsoft.com/office/drawing/2014/main" id="{4D24EFD2-CEF0-4945-A287-CD5C0C2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81350"/>
            <a:ext cx="304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5" name="P3 系统目录与角色">
            <a:extLst xmlns:a="http://schemas.openxmlformats.org/drawingml/2006/main">
              <a:ext uri="{FF2B5EF4-FFF2-40B4-BE49-F238E27FC236}">
                <a16:creationId xmlns:a16="http://schemas.microsoft.com/office/drawing/2014/main" id="{4991B3C1-94B7-44E8-BF9A-DC74CF7A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004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P3 系统目录与角色</a:t>
            </a:r>
          </a:p>
        </p:txBody>
      </p:sp>
      <p:sp>
        <p:nvSpPr>
          <p:cNvPr id="56" name="c2">
            <a:extLst xmlns:a="http://schemas.openxmlformats.org/drawingml/2006/main">
              <a:ext uri="{FF2B5EF4-FFF2-40B4-BE49-F238E27FC236}">
                <a16:creationId xmlns:a16="http://schemas.microsoft.com/office/drawing/2014/main" id="{9774E3D9-8F04-4E69-9E52-19A1103F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8135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7" name="P5 事件接收">
            <a:extLst xmlns:a="http://schemas.openxmlformats.org/drawingml/2006/main">
              <a:ext uri="{FF2B5EF4-FFF2-40B4-BE49-F238E27FC236}">
                <a16:creationId xmlns:a16="http://schemas.microsoft.com/office/drawing/2014/main" id="{2FD59BB8-7470-4557-BE1A-3C3D7521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P5 事件接收</a:t>
            </a:r>
          </a:p>
        </p:txBody>
      </p:sp>
      <p:sp>
        <p:nvSpPr>
          <p:cNvPr id="58" name="读取／更新">
            <a:extLst xmlns:a="http://schemas.openxmlformats.org/drawingml/2006/main">
              <a:ext uri="{FF2B5EF4-FFF2-40B4-BE49-F238E27FC236}">
                <a16:creationId xmlns:a16="http://schemas.microsoft.com/office/drawing/2014/main" id="{3D40E73F-3F22-4C11-A07E-0E53E990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337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读取／更新</a:t>
            </a:r>
          </a:p>
        </p:txBody>
      </p:sp>
      <p:sp>
        <p:nvSpPr>
          <p:cNvPr id="59" name="管理、目录事件">
            <a:extLst xmlns:a="http://schemas.openxmlformats.org/drawingml/2006/main">
              <a:ext uri="{FF2B5EF4-FFF2-40B4-BE49-F238E27FC236}">
                <a16:creationId xmlns:a16="http://schemas.microsoft.com/office/drawing/2014/main" id="{52C90F28-62E8-44D8-A111-829E6E29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337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管理、目录事件</a:t>
            </a:r>
          </a:p>
        </p:txBody>
      </p:sp>
      <p:sp>
        <p:nvSpPr>
          <p:cNvPr id="6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8E6677E-CED2-431F-8B12-36B3EC16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6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C377ACB-38CB-4EC1-825A-E3F5F90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62" name="D1、D2、D3 员工／系统／会话">
            <a:extLst xmlns:a="http://schemas.openxmlformats.org/drawingml/2006/main">
              <a:ext uri="{FF2B5EF4-FFF2-40B4-BE49-F238E27FC236}">
                <a16:creationId xmlns:a16="http://schemas.microsoft.com/office/drawing/2014/main" id="{5FB93EFB-2A69-47A2-9A76-2B3C8AD9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D1、D2、D3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员工／系统／会话</a:t>
            </a:r>
          </a:p>
        </p:txBody>
      </p:sp>
      <p:sp>
        <p:nvSpPr>
          <p:cNvPr id="63" name="b3">
            <a:extLst xmlns:a="http://schemas.openxmlformats.org/drawingml/2006/main">
              <a:ext uri="{FF2B5EF4-FFF2-40B4-BE49-F238E27FC236}">
                <a16:creationId xmlns:a16="http://schemas.microsoft.com/office/drawing/2014/main" id="{33ADE5F4-E1C6-47A9-8A93-290D304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19550"/>
            <a:ext cx="304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64" name="P4 授权与鉴权">
            <a:extLst xmlns:a="http://schemas.openxmlformats.org/drawingml/2006/main">
              <a:ext uri="{FF2B5EF4-FFF2-40B4-BE49-F238E27FC236}">
                <a16:creationId xmlns:a16="http://schemas.microsoft.com/office/drawing/2014/main" id="{0E0AC0C9-E861-4E42-B54A-2045EEC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386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 授权与鉴权</a:t>
            </a:r>
          </a:p>
        </p:txBody>
      </p:sp>
      <p:sp>
        <p:nvSpPr>
          <p:cNvPr id="6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B531090-AAF6-4CE0-8DE0-A8C3C521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1905000" cy="9525"/>
          </a:xfrm>
          <a:custGeom xmlns:a="http://schemas.openxmlformats.org/drawingml/2006/main"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6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3042D46-EC70-4C46-8DB2-B1ABF1CD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29150"/>
            <a:ext cx="1905000" cy="9525"/>
          </a:xfrm>
          <a:custGeom xmlns:a="http://schemas.openxmlformats.org/drawingml/2006/main"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67" name="D4 员工角色分配">
            <a:extLst xmlns:a="http://schemas.openxmlformats.org/drawingml/2006/main">
              <a:ext uri="{FF2B5EF4-FFF2-40B4-BE49-F238E27FC236}">
                <a16:creationId xmlns:a16="http://schemas.microsoft.com/office/drawing/2014/main" id="{19F14B22-50D0-4EF8-BFE6-FCD30B3A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3860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D4 员工角色分配</a:t>
            </a:r>
          </a:p>
        </p:txBody>
      </p:sp>
      <p:sp>
        <p:nvSpPr>
          <p:cNvPr id="68" name="读取判断依据">
            <a:extLst xmlns:a="http://schemas.openxmlformats.org/drawingml/2006/main">
              <a:ext uri="{FF2B5EF4-FFF2-40B4-BE49-F238E27FC236}">
                <a16:creationId xmlns:a16="http://schemas.microsoft.com/office/drawing/2014/main" id="{47E43B78-9724-441D-A013-0EB648CC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719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读取判断依据</a:t>
            </a:r>
          </a:p>
        </p:txBody>
      </p:sp>
      <p:sp>
        <p:nvSpPr>
          <p:cNvPr id="69" name="读取／更新分配">
            <a:extLst xmlns:a="http://schemas.openxmlformats.org/drawingml/2006/main">
              <a:ext uri="{FF2B5EF4-FFF2-40B4-BE49-F238E27FC236}">
                <a16:creationId xmlns:a16="http://schemas.microsoft.com/office/drawing/2014/main" id="{40D68780-2BD4-4E0D-8828-2F865ED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9719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读取／更新分配</a:t>
            </a:r>
          </a:p>
        </p:txBody>
      </p:sp>
      <p:sp>
        <p:nvSpPr>
          <p:cNvPr id="70" name="a4">
            <a:extLst xmlns:a="http://schemas.openxmlformats.org/drawingml/2006/main">
              <a:ext uri="{FF2B5EF4-FFF2-40B4-BE49-F238E27FC236}">
                <a16:creationId xmlns:a16="http://schemas.microsoft.com/office/drawing/2014/main" id="{27AB21DF-138C-4A70-9DF3-355528E5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571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1" name="P1–P4 事件 认证／管理／拒绝／异常">
            <a:extLst xmlns:a="http://schemas.openxmlformats.org/drawingml/2006/main">
              <a:ext uri="{FF2B5EF4-FFF2-40B4-BE49-F238E27FC236}">
                <a16:creationId xmlns:a16="http://schemas.microsoft.com/office/drawing/2014/main" id="{4FBFB6B2-40B7-4434-BCF4-6BE76FC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P1–P4 事件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认证／管理／拒绝／异常</a:t>
            </a:r>
          </a:p>
        </p:txBody>
      </p:sp>
      <p:sp>
        <p:nvSpPr>
          <p:cNvPr id="72" name="b4">
            <a:extLst xmlns:a="http://schemas.openxmlformats.org/drawingml/2006/main">
              <a:ext uri="{FF2B5EF4-FFF2-40B4-BE49-F238E27FC236}">
                <a16:creationId xmlns:a16="http://schemas.microsoft.com/office/drawing/2014/main" id="{A6C5A381-F742-4E35-86B5-5732BC96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857750"/>
            <a:ext cx="304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3" name="P5 审计查询与统计">
            <a:extLst xmlns:a="http://schemas.openxmlformats.org/drawingml/2006/main">
              <a:ext uri="{FF2B5EF4-FFF2-40B4-BE49-F238E27FC236}">
                <a16:creationId xmlns:a16="http://schemas.microsoft.com/office/drawing/2014/main" id="{A765B4A6-D15A-4F9B-8F3F-71D0B06E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8768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P5 审计查询与统计</a:t>
            </a:r>
          </a:p>
        </p:txBody>
      </p:sp>
      <p:sp>
        <p:nvSpPr>
          <p:cNvPr id="7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1926571-8621-4855-8144-06DC0DBB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905000" cy="9525"/>
          </a:xfrm>
          <a:custGeom xmlns:a="http://schemas.openxmlformats.org/drawingml/2006/main"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E753D0E-8792-403C-A1E8-2E73A42E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1905000" cy="9525"/>
          </a:xfrm>
          <a:custGeom xmlns:a="http://schemas.openxmlformats.org/drawingml/2006/main"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6" name="D5 审计与统计">
            <a:extLst xmlns:a="http://schemas.openxmlformats.org/drawingml/2006/main">
              <a:ext uri="{FF2B5EF4-FFF2-40B4-BE49-F238E27FC236}">
                <a16:creationId xmlns:a16="http://schemas.microsoft.com/office/drawing/2014/main" id="{6B80E99D-3B74-4E19-A91C-D84DA14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7680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D5 审计与统计</a:t>
            </a:r>
          </a:p>
        </p:txBody>
      </p:sp>
      <p:sp>
        <p:nvSpPr>
          <p:cNvPr id="77" name="事件信息">
            <a:extLst xmlns:a="http://schemas.openxmlformats.org/drawingml/2006/main">
              <a:ext uri="{FF2B5EF4-FFF2-40B4-BE49-F238E27FC236}">
                <a16:creationId xmlns:a16="http://schemas.microsoft.com/office/drawing/2014/main" id="{DB8212CC-1770-431E-B349-8C8C731C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101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事件信息</a:t>
            </a:r>
          </a:p>
        </p:txBody>
      </p:sp>
      <p:sp>
        <p:nvSpPr>
          <p:cNvPr id="78" name="记录／查询">
            <a:extLst xmlns:a="http://schemas.openxmlformats.org/drawingml/2006/main">
              <a:ext uri="{FF2B5EF4-FFF2-40B4-BE49-F238E27FC236}">
                <a16:creationId xmlns:a16="http://schemas.microsoft.com/office/drawing/2014/main" id="{3659E3CC-434D-4843-BDAA-DA4855EF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8101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记录／查询</a:t>
            </a:r>
          </a:p>
        </p:txBody>
      </p:sp>
      <p:sp>
        <p:nvSpPr>
          <p:cNvPr id="79" name="D1 员工与范围，D2 系统目录角色，D3 会话，D4 分配，D5 审计统计；信息集合之间不直接 传递。">
            <a:extLst xmlns:a="http://schemas.openxmlformats.org/drawingml/2006/main">
              <a:ext uri="{FF2B5EF4-FFF2-40B4-BE49-F238E27FC236}">
                <a16:creationId xmlns:a16="http://schemas.microsoft.com/office/drawing/2014/main" id="{9F300B00-4147-4C40-B483-50664331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D1 员工与范围，D2 系统目录角色，D3 会话，D4 分配，D5 审计统计；信息集合之间不直接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传递。</a:t>
            </a:r>
          </a:p>
        </p:txBody>
      </p:sp>
      <p:sp>
        <p:nvSpPr>
          <p:cNvPr id="80" name="09">
            <a:extLst xmlns:a="http://schemas.openxmlformats.org/drawingml/2006/main">
              <a:ext uri="{FF2B5EF4-FFF2-40B4-BE49-F238E27FC236}">
                <a16:creationId xmlns:a16="http://schemas.microsoft.com/office/drawing/2014/main" id="{5AFBC3A3-DED1-4976-A541-3C8F61F5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04722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二级 DFD：展开授权与鉴权 P4">
            <a:extLst xmlns:a="http://schemas.openxmlformats.org/drawingml/2006/main">
              <a:ext uri="{FF2B5EF4-FFF2-40B4-BE49-F238E27FC236}">
                <a16:creationId xmlns:a16="http://schemas.microsoft.com/office/drawing/2014/main" id="{6DCF0761-E0E6-4A11-B0ED-292F08B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二级 DFD：展开授权与鉴权 P4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E14C51E-2A2F-4015-A254-C408D5EB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57375"/>
            <a:ext cx="800100" cy="9525"/>
          </a:xfrm>
          <a:custGeom xmlns:a="http://schemas.openxmlformats.org/drawingml/2006/main">
            <a:pathLst>
              <a:path w="800100" h="952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C7A4882-319A-4516-AA33-E4BE54C7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097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1C7DF66-E282-4E7E-B46F-D0EA5B9F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857375"/>
            <a:ext cx="1276350" cy="9525"/>
          </a:xfrm>
          <a:custGeom xmlns:a="http://schemas.openxmlformats.org/drawingml/2006/main">
            <a:pathLst>
              <a:path w="1276350" h="952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8D90ABB9-5C64-44BE-8530-0736F19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097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A0A3793-DE73-4302-B931-17BAA375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A656406-9486-46B9-B022-F0FC0861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241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95250"/>
                </a:lnTo>
                <a:lnTo>
                  <a:pt x="47625" y="66675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8F48D85-D3D0-40ED-98CB-ADD8DE79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10000"/>
            <a:ext cx="704850" cy="9525"/>
          </a:xfrm>
          <a:custGeom xmlns:a="http://schemas.openxmlformats.org/drawingml/2006/main">
            <a:pathLst>
              <a:path w="704850" h="9525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005754E-2971-4A9C-A64D-20B5BD18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623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BD99402-C60F-4D90-8350-DCC17A9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76725"/>
            <a:ext cx="9525" cy="466725"/>
          </a:xfrm>
          <a:custGeom xmlns:a="http://schemas.openxmlformats.org/drawingml/2006/main">
            <a:pathLst>
              <a:path w="9525" h="466725">
                <a:moveTo>
                  <a:pt x="0" y="466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D6672B7-1F29-40A9-82CD-E43FAB6E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767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95250"/>
                </a:lnTo>
                <a:lnTo>
                  <a:pt x="47625" y="66675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E0F4A28-C2E3-4879-A3DB-EB9E3E6C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810000"/>
            <a:ext cx="1276350" cy="9525"/>
          </a:xfrm>
          <a:custGeom xmlns:a="http://schemas.openxmlformats.org/drawingml/2006/main">
            <a:pathLst>
              <a:path w="1276350" h="952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D4009B2-C660-46F3-B07C-8FD0C597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7623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CEF8780-FB34-479F-B32F-B3D0F35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52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8242E8F-73F0-4C8C-B1B9-B1B121CF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AB1B123-87FB-4E36-8064-A175F85D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86200"/>
            <a:ext cx="133350" cy="9525"/>
          </a:xfrm>
          <a:custGeom xmlns:a="http://schemas.openxmlformats.org/drawingml/2006/main">
            <a:pathLst>
              <a:path w="133350" h="9525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17D99CF-E3C8-426D-8ABB-A098F85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385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AED8847-AD2B-471E-A0A8-BC10F583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9525" cy="466725"/>
          </a:xfrm>
          <a:custGeom xmlns:a="http://schemas.openxmlformats.org/drawingml/2006/main"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DFCB86F-C1C2-46B5-B150-4CF2E0E8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910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F11A048-6F49-41DF-A7A4-484ECBD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47875"/>
            <a:ext cx="1276350" cy="3095625"/>
          </a:xfrm>
          <a:custGeom xmlns:a="http://schemas.openxmlformats.org/drawingml/2006/main">
            <a:pathLst>
              <a:path w="1276350" h="3095625">
                <a:moveTo>
                  <a:pt x="0" y="0"/>
                </a:moveTo>
                <a:cubicBezTo>
                  <a:pt x="666750" y="0"/>
                  <a:pt x="666750" y="3095625"/>
                  <a:pt x="1276350" y="3095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1B83850-6EC6-4234-BFB2-709AC960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D7BBB66-58E2-426B-9C7A-70FD5D3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19725"/>
            <a:ext cx="4276725" cy="276225"/>
          </a:xfrm>
          <a:custGeom xmlns:a="http://schemas.openxmlformats.org/drawingml/2006/main">
            <a:pathLst>
              <a:path w="4276725" h="276225">
                <a:moveTo>
                  <a:pt x="4276725" y="0"/>
                </a:moveTo>
                <a:cubicBezTo>
                  <a:pt x="3467100" y="276225"/>
                  <a:pt x="609600" y="276225"/>
                  <a:pt x="0" y="85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13AFC4D-F24E-4686-88F3-2AEF4A8E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88404"/>
            <a:ext cx="105120" cy="90914"/>
          </a:xfrm>
          <a:custGeom xmlns:a="http://schemas.openxmlformats.org/drawingml/2006/main">
            <a:pathLst>
              <a:path w="105120" h="90914">
                <a:moveTo>
                  <a:pt x="0" y="17046"/>
                </a:moveTo>
                <a:lnTo>
                  <a:pt x="105120" y="0"/>
                </a:lnTo>
                <a:lnTo>
                  <a:pt x="63640" y="36934"/>
                </a:lnTo>
                <a:lnTo>
                  <a:pt x="76709" y="909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8174C38F-6B51-4A27-8A29-15872CCA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1435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9D99921-1D17-4A84-97E6-F97A13DA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958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6" name="管理请求">
            <a:extLst xmlns:a="http://schemas.openxmlformats.org/drawingml/2006/main">
              <a:ext uri="{FF2B5EF4-FFF2-40B4-BE49-F238E27FC236}">
                <a16:creationId xmlns:a16="http://schemas.microsoft.com/office/drawing/2014/main" id="{2146148F-0784-4ACC-B561-4C7A51A1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管理请求</a:t>
            </a:r>
          </a:p>
        </p:txBody>
      </p:sp>
      <p:sp>
        <p:nvSpPr>
          <p:cNvPr id="27" name="p41">
            <a:extLst xmlns:a="http://schemas.openxmlformats.org/drawingml/2006/main">
              <a:ext uri="{FF2B5EF4-FFF2-40B4-BE49-F238E27FC236}">
                <a16:creationId xmlns:a16="http://schemas.microsoft.com/office/drawing/2014/main" id="{0A035906-1788-4EFD-9A63-59DF54AE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04950"/>
            <a:ext cx="228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8" name="P4.1 管理授权">
            <a:extLst xmlns:a="http://schemas.openxmlformats.org/drawingml/2006/main">
              <a:ext uri="{FF2B5EF4-FFF2-40B4-BE49-F238E27FC236}">
                <a16:creationId xmlns:a16="http://schemas.microsoft.com/office/drawing/2014/main" id="{36E9082A-B915-4DFF-8FE3-8FF1D1FC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24000"/>
            <a:ext cx="2209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P4.1</a:t>
            </a:r>
          </a:p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管理授权</a:t>
            </a:r>
          </a:p>
        </p:txBody>
      </p:sp>
      <p:sp>
        <p:nvSpPr>
          <p:cNvPr id="2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8E92D94-FC21-4C71-B70D-BA4D817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DE4C74E-E675-42B6-92B4-31EB7838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24075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1" name="D4 员工角色分配">
            <a:extLst xmlns:a="http://schemas.openxmlformats.org/drawingml/2006/main">
              <a:ext uri="{FF2B5EF4-FFF2-40B4-BE49-F238E27FC236}">
                <a16:creationId xmlns:a16="http://schemas.microsoft.com/office/drawing/2014/main" id="{696B2A45-0636-4E75-8A3B-6CDA9715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24000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D4 员工角色分配</a:t>
            </a:r>
          </a:p>
        </p:txBody>
      </p:sp>
      <p:sp>
        <p:nvSpPr>
          <p:cNvPr id="32" name="读写分配">
            <a:extLst xmlns:a="http://schemas.openxmlformats.org/drawingml/2006/main">
              <a:ext uri="{FF2B5EF4-FFF2-40B4-BE49-F238E27FC236}">
                <a16:creationId xmlns:a16="http://schemas.microsoft.com/office/drawing/2014/main" id="{8EC9106D-D776-4296-9262-CF3F5C75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240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读写分配</a:t>
            </a:r>
          </a:p>
        </p:txBody>
      </p:sp>
      <p:sp>
        <p:nvSpPr>
          <p:cNvPr id="3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605FDAA-D386-4015-ABEC-CE8CC0E3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86025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7886615-C861-4319-B4CB-08FE09D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5" name="D1、D2 范围／员工／角色">
            <a:extLst xmlns:a="http://schemas.openxmlformats.org/drawingml/2006/main">
              <a:ext uri="{FF2B5EF4-FFF2-40B4-BE49-F238E27FC236}">
                <a16:creationId xmlns:a16="http://schemas.microsoft.com/office/drawing/2014/main" id="{FF320FBE-6D38-48E3-971A-DCFB3D38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05075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D1、D2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范围／员工／角色</a:t>
            </a:r>
          </a:p>
        </p:txBody>
      </p:sp>
      <p:sp>
        <p:nvSpPr>
          <p:cNvPr id="36" name="运行时鉴权请求">
            <a:extLst xmlns:a="http://schemas.openxmlformats.org/drawingml/2006/main">
              <a:ext uri="{FF2B5EF4-FFF2-40B4-BE49-F238E27FC236}">
                <a16:creationId xmlns:a16="http://schemas.microsoft.com/office/drawing/2014/main" id="{28E9A5DF-F87A-42DE-9C17-8250D0C9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运行时鉴权请求</a:t>
            </a:r>
          </a:p>
        </p:txBody>
      </p:sp>
      <p:sp>
        <p:nvSpPr>
          <p:cNvPr id="37" name="p42">
            <a:extLst xmlns:a="http://schemas.openxmlformats.org/drawingml/2006/main">
              <a:ext uri="{FF2B5EF4-FFF2-40B4-BE49-F238E27FC236}">
                <a16:creationId xmlns:a16="http://schemas.microsoft.com/office/drawing/2014/main" id="{CBCD9590-2E0F-408E-9B1A-E22E840D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57575"/>
            <a:ext cx="228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8" name="P4.2 校验上下文">
            <a:extLst xmlns:a="http://schemas.openxmlformats.org/drawingml/2006/main">
              <a:ext uri="{FF2B5EF4-FFF2-40B4-BE49-F238E27FC236}">
                <a16:creationId xmlns:a16="http://schemas.microsoft.com/office/drawing/2014/main" id="{C92BF293-B254-44E3-8E33-15788B0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76625"/>
            <a:ext cx="2209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P4.2</a:t>
            </a:r>
          </a:p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校验上下文</a:t>
            </a:r>
          </a:p>
        </p:txBody>
      </p:sp>
      <p:sp>
        <p:nvSpPr>
          <p:cNvPr id="3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F1CEAA3-4EBE-48A4-929A-B821313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91075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35D34CF-EE18-4862-9272-618F040A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10200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1" name="D1、D2、D3 员工／系统／会话">
            <a:extLst xmlns:a="http://schemas.openxmlformats.org/drawingml/2006/main">
              <a:ext uri="{FF2B5EF4-FFF2-40B4-BE49-F238E27FC236}">
                <a16:creationId xmlns:a16="http://schemas.microsoft.com/office/drawing/2014/main" id="{73B2CB12-0FF4-4455-BB35-1ECF83FA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0125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D1、D2、D3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员工／系统／会话</a:t>
            </a:r>
          </a:p>
        </p:txBody>
      </p:sp>
      <p:sp>
        <p:nvSpPr>
          <p:cNvPr id="42" name="上下文事实">
            <a:extLst xmlns:a="http://schemas.openxmlformats.org/drawingml/2006/main">
              <a:ext uri="{FF2B5EF4-FFF2-40B4-BE49-F238E27FC236}">
                <a16:creationId xmlns:a16="http://schemas.microsoft.com/office/drawing/2014/main" id="{E4F8F7BB-30EE-4E89-86DB-63890E57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381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上下文事实</a:t>
            </a:r>
          </a:p>
        </p:txBody>
      </p:sp>
      <p:sp>
        <p:nvSpPr>
          <p:cNvPr id="43" name="p43">
            <a:extLst xmlns:a="http://schemas.openxmlformats.org/drawingml/2006/main">
              <a:ext uri="{FF2B5EF4-FFF2-40B4-BE49-F238E27FC236}">
                <a16:creationId xmlns:a16="http://schemas.microsoft.com/office/drawing/2014/main" id="{C44FA35F-9B72-4C5F-A1DF-34B4ADC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57575"/>
            <a:ext cx="228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4" name="P4.3 求有效权限">
            <a:extLst xmlns:a="http://schemas.openxmlformats.org/drawingml/2006/main">
              <a:ext uri="{FF2B5EF4-FFF2-40B4-BE49-F238E27FC236}">
                <a16:creationId xmlns:a16="http://schemas.microsoft.com/office/drawing/2014/main" id="{AFF1199B-8C39-4DA1-A855-43B1ED41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76625"/>
            <a:ext cx="2209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P4.3</a:t>
            </a:r>
          </a:p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求有效权限</a:t>
            </a:r>
          </a:p>
        </p:txBody>
      </p:sp>
      <p:sp>
        <p:nvSpPr>
          <p:cNvPr id="45" name="校验结果">
            <a:extLst xmlns:a="http://schemas.openxmlformats.org/drawingml/2006/main">
              <a:ext uri="{FF2B5EF4-FFF2-40B4-BE49-F238E27FC236}">
                <a16:creationId xmlns:a16="http://schemas.microsoft.com/office/drawing/2014/main" id="{93808360-5014-436F-A037-EF7E270E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校验结果</a:t>
            </a:r>
          </a:p>
        </p:txBody>
      </p:sp>
      <p:sp>
        <p:nvSpPr>
          <p:cNvPr id="4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9A7BC62-5AEA-49EE-97DA-E9929B12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86025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F551DD2-3ACF-4DA5-B9A9-A63824C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48" name="D1、D2、D4 范围／角色／分配">
            <a:extLst xmlns:a="http://schemas.openxmlformats.org/drawingml/2006/main">
              <a:ext uri="{FF2B5EF4-FFF2-40B4-BE49-F238E27FC236}">
                <a16:creationId xmlns:a16="http://schemas.microsoft.com/office/drawing/2014/main" id="{F9890408-DC71-45D2-83EB-47665DCC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05075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D1、D2、D4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范围／角色／分配</a:t>
            </a:r>
          </a:p>
        </p:txBody>
      </p:sp>
      <p:sp>
        <p:nvSpPr>
          <p:cNvPr id="49" name="管理查询">
            <a:extLst xmlns:a="http://schemas.openxmlformats.org/drawingml/2006/main">
              <a:ext uri="{FF2B5EF4-FFF2-40B4-BE49-F238E27FC236}">
                <a16:creationId xmlns:a16="http://schemas.microsoft.com/office/drawing/2014/main" id="{85D7D8F7-B08E-45F8-A4FA-BACD6514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43275"/>
            <a:ext cx="144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管理查询</a:t>
            </a:r>
          </a:p>
        </p:txBody>
      </p:sp>
      <p:sp>
        <p:nvSpPr>
          <p:cNvPr id="50" name="p44">
            <a:extLst xmlns:a="http://schemas.openxmlformats.org/drawingml/2006/main">
              <a:ext uri="{FF2B5EF4-FFF2-40B4-BE49-F238E27FC236}">
                <a16:creationId xmlns:a16="http://schemas.microsoft.com/office/drawing/2014/main" id="{897420AE-C70A-4723-86B6-C6B4E54E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91075"/>
            <a:ext cx="228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1" name="P4.4 输出结果">
            <a:extLst xmlns:a="http://schemas.openxmlformats.org/drawingml/2006/main">
              <a:ext uri="{FF2B5EF4-FFF2-40B4-BE49-F238E27FC236}">
                <a16:creationId xmlns:a16="http://schemas.microsoft.com/office/drawing/2014/main" id="{B30D665A-C6B5-4DF5-8B6F-8C763528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10125"/>
            <a:ext cx="2209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P4.4</a:t>
            </a:r>
          </a:p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输出结果</a:t>
            </a:r>
          </a:p>
        </p:txBody>
      </p:sp>
      <p:sp>
        <p:nvSpPr>
          <p:cNvPr id="52" name="查询／判断结论">
            <a:extLst xmlns:a="http://schemas.openxmlformats.org/drawingml/2006/main">
              <a:ext uri="{FF2B5EF4-FFF2-40B4-BE49-F238E27FC236}">
                <a16:creationId xmlns:a16="http://schemas.microsoft.com/office/drawing/2014/main" id="{B0D021E7-F8ED-40C7-A330-8EBC3C3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3243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查询／判断结论</a:t>
            </a:r>
          </a:p>
        </p:txBody>
      </p:sp>
      <p:sp>
        <p:nvSpPr>
          <p:cNvPr id="53" name="变更结果">
            <a:extLst xmlns:a="http://schemas.openxmlformats.org/drawingml/2006/main">
              <a:ext uri="{FF2B5EF4-FFF2-40B4-BE49-F238E27FC236}">
                <a16:creationId xmlns:a16="http://schemas.microsoft.com/office/drawing/2014/main" id="{13F1C887-4BB3-47AC-A17A-315F2AA9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变更结果</a:t>
            </a:r>
          </a:p>
        </p:txBody>
      </p:sp>
      <p:sp>
        <p:nvSpPr>
          <p:cNvPr id="54" name="管理／查询／ 鉴权结果">
            <a:extLst xmlns:a="http://schemas.openxmlformats.org/drawingml/2006/main">
              <a:ext uri="{FF2B5EF4-FFF2-40B4-BE49-F238E27FC236}">
                <a16:creationId xmlns:a16="http://schemas.microsoft.com/office/drawing/2014/main" id="{2BD0EC04-3C4F-4FBC-B1D6-B8ADB99E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20669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管理／查询／</a:t>
            </a:r>
          </a:p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鉴权结果</a:t>
            </a:r>
          </a:p>
        </p:txBody>
      </p:sp>
      <p:sp>
        <p:nvSpPr>
          <p:cNvPr id="55" name="p5">
            <a:extLst xmlns:a="http://schemas.openxmlformats.org/drawingml/2006/main">
              <a:ext uri="{FF2B5EF4-FFF2-40B4-BE49-F238E27FC236}">
                <a16:creationId xmlns:a16="http://schemas.microsoft.com/office/drawing/2014/main" id="{4B3AE276-9F38-4F66-A7A8-A5EF97C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791075"/>
            <a:ext cx="1381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6" name="P5 事件接收 管理／拒绝／异常">
            <a:extLst xmlns:a="http://schemas.openxmlformats.org/drawingml/2006/main">
              <a:ext uri="{FF2B5EF4-FFF2-40B4-BE49-F238E27FC236}">
                <a16:creationId xmlns:a16="http://schemas.microsoft.com/office/drawing/2014/main" id="{DD939ADE-5789-4083-AFC5-E8FB3BF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10125"/>
            <a:ext cx="1304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P5 事件接收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管理／拒绝／异常</a:t>
            </a:r>
          </a:p>
        </p:txBody>
      </p:sp>
      <p:sp>
        <p:nvSpPr>
          <p:cNvPr id="57" name="保留管理、查询、运行时鉴权三类输入；变更结果、有效权限和判断结论分别返回。">
            <a:extLst xmlns:a="http://schemas.openxmlformats.org/drawingml/2006/main">
              <a:ext uri="{FF2B5EF4-FFF2-40B4-BE49-F238E27FC236}">
                <a16:creationId xmlns:a16="http://schemas.microsoft.com/office/drawing/2014/main" id="{54EF3393-8A88-4A4A-9417-E34C35D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保留管理、查询、运行时鉴权三类输入；变更结果、有效权限和判断结论分别返回。</a:t>
            </a:r>
          </a:p>
        </p:txBody>
      </p:sp>
      <p:sp>
        <p:nvSpPr>
          <p:cNvPr id="58" name="10">
            <a:extLst xmlns:a="http://schemas.openxmlformats.org/drawingml/2006/main">
              <a:ext uri="{FF2B5EF4-FFF2-40B4-BE49-F238E27FC236}">
                <a16:creationId xmlns:a16="http://schemas.microsoft.com/office/drawing/2014/main" id="{26ED58E0-5BC4-4520-BBEB-8B22490A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06699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层间平衡与业务数据字典">
            <a:extLst xmlns:a="http://schemas.openxmlformats.org/drawingml/2006/main">
              <a:ext uri="{FF2B5EF4-FFF2-40B4-BE49-F238E27FC236}">
                <a16:creationId xmlns:a16="http://schemas.microsoft.com/office/drawing/2014/main" id="{A3B3DF5C-DCC4-441B-86CA-0CB25D3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层间平衡与业务数据字典</a:t>
            </a:r>
          </a:p>
        </p:txBody>
      </p:sp>
      <p:sp>
        <p:nvSpPr>
          <p:cNvPr id="2" name="管理请求在 P4.1 处理、P4.4 返回；鉴权经 P4.2、P4.3 形成结果；查询进入  P4.3。">
            <a:extLst xmlns:a="http://schemas.openxmlformats.org/drawingml/2006/main">
              <a:ext uri="{FF2B5EF4-FFF2-40B4-BE49-F238E27FC236}">
                <a16:creationId xmlns:a16="http://schemas.microsoft.com/office/drawing/2014/main" id="{311A0B9C-0436-4E6C-9609-0660958A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管理请求在 P4.1 处理、P4.4 返回；鉴权经 P4.2、P4.3 形成结果；查询进入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 P4.3。</a:t>
            </a:r>
          </a:p>
        </p:txBody>
      </p:sp>
      <p:sp>
        <p:nvSpPr>
          <p:cNvPr id="3" name="角色分配表达员工在某系统取得的角色；鉴权结论区分允许、拒绝和无法确认。">
            <a:extLst xmlns:a="http://schemas.openxmlformats.org/drawingml/2006/main">
              <a:ext uri="{FF2B5EF4-FFF2-40B4-BE49-F238E27FC236}">
                <a16:creationId xmlns:a16="http://schemas.microsoft.com/office/drawing/2014/main" id="{9FCF7FA8-799F-4674-9FD2-88EA67CD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角色分配表达员工在某系统取得的角色；鉴权结论区分允许、拒绝和无法确认。</a:t>
            </a:r>
          </a:p>
        </p:txBody>
      </p:sp>
      <p:sp>
        <p:nvSpPr>
          <p:cNvPr id="4" name="检查无来源输出、遗漏结果与新增外部需求。DFD 表达信息加工，流程图补充顺 序和分支。">
            <a:extLst xmlns:a="http://schemas.openxmlformats.org/drawingml/2006/main">
              <a:ext uri="{FF2B5EF4-FFF2-40B4-BE49-F238E27FC236}">
                <a16:creationId xmlns:a16="http://schemas.microsoft.com/office/drawing/2014/main" id="{B17A3470-E3DD-4293-B444-CDA2F307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检查无来源输出、遗漏结果与新增外部需求。DFD 表达信息加工，流程图补充顺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序和分支。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B2045E7E-53BE-4F14-A610-8F078BDA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40034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登录、会话复用与统一退出">
            <a:extLst xmlns:a="http://schemas.openxmlformats.org/drawingml/2006/main">
              <a:ext uri="{FF2B5EF4-FFF2-40B4-BE49-F238E27FC236}">
                <a16:creationId xmlns:a16="http://schemas.microsoft.com/office/drawing/2014/main" id="{C6E7579D-8811-457F-9136-22A7EBBC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登录、会话复用与统一退出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0C2ADB3-BC72-43A3-8670-63755CF5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85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23135C7-CF0E-4B3B-A0DB-A9E3F93D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38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CE088A3-D629-42C1-938C-AD653B4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85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25F205B-9C90-4F13-A70F-BFB71560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38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DEA69A0-EF2C-4C12-8125-D6626338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91A4B8C-5C3B-4705-AC04-588D920C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32EF5C6-AF46-4F4F-9691-D0BB639B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7F512BE-27D0-4A17-9CC3-34B27FBE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step-0">
            <a:extLst xmlns:a="http://schemas.openxmlformats.org/drawingml/2006/main">
              <a:ext uri="{FF2B5EF4-FFF2-40B4-BE49-F238E27FC236}">
                <a16:creationId xmlns:a16="http://schemas.microsoft.com/office/drawing/2014/main" id="{7DB78B5C-DAFB-46B3-ABFB-85828FCA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OA 发起统一登录">
            <a:extLst xmlns:a="http://schemas.openxmlformats.org/drawingml/2006/main">
              <a:ext uri="{FF2B5EF4-FFF2-40B4-BE49-F238E27FC236}">
                <a16:creationId xmlns:a16="http://schemas.microsoft.com/office/drawing/2014/main" id="{A0EBACA3-4DEF-4475-A1C4-640AFF6A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OA 发起统一登录</a:t>
            </a:r>
          </a:p>
        </p:txBody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E2FE16FA-E3C4-4EC9-8B35-C003E39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平台认证或复用会话">
            <a:extLst xmlns:a="http://schemas.openxmlformats.org/drawingml/2006/main">
              <a:ext uri="{FF2B5EF4-FFF2-40B4-BE49-F238E27FC236}">
                <a16:creationId xmlns:a16="http://schemas.microsoft.com/office/drawing/2014/main" id="{7FB99D03-A293-44F2-9553-C7F5D63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平台认证或复用会话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52274318-6786-47B1-816D-47FE546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OA 后端验证 自己的登录结果">
            <a:extLst xmlns:a="http://schemas.openxmlformats.org/drawingml/2006/main">
              <a:ext uri="{FF2B5EF4-FFF2-40B4-BE49-F238E27FC236}">
                <a16:creationId xmlns:a16="http://schemas.microsoft.com/office/drawing/2014/main" id="{FCB3ABE0-12EE-495B-875B-A8E2CBA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OA 后端验证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自己的登录结果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7B34EAA6-EE50-42EF-B992-ABF4CE96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知识库发起登录">
            <a:extLst xmlns:a="http://schemas.openxmlformats.org/drawingml/2006/main">
              <a:ext uri="{FF2B5EF4-FFF2-40B4-BE49-F238E27FC236}">
                <a16:creationId xmlns:a16="http://schemas.microsoft.com/office/drawing/2014/main" id="{539B9CE2-89DA-4EBC-8D6B-BFF55CA5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知识库发起登录</a:t>
            </a:r>
          </a:p>
        </p:txBody>
      </p:sp>
      <p:sp>
        <p:nvSpPr>
          <p:cNvPr id="18" name="step-4">
            <a:extLst xmlns:a="http://schemas.openxmlformats.org/drawingml/2006/main">
              <a:ext uri="{FF2B5EF4-FFF2-40B4-BE49-F238E27FC236}">
                <a16:creationId xmlns:a16="http://schemas.microsoft.com/office/drawing/2014/main" id="{C674D368-B2F7-4674-A79D-1CF2A9D4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平台复用同一会话">
            <a:extLst xmlns:a="http://schemas.openxmlformats.org/drawingml/2006/main">
              <a:ext uri="{FF2B5EF4-FFF2-40B4-BE49-F238E27FC236}">
                <a16:creationId xmlns:a16="http://schemas.microsoft.com/office/drawing/2014/main" id="{E00637B0-171F-4718-9C3A-2B87F764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平台复用同一会话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04E50E4F-3831-403D-B050-26C19B4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知识库后端验证 自己的登录结果">
            <a:extLst xmlns:a="http://schemas.openxmlformats.org/drawingml/2006/main">
              <a:ext uri="{FF2B5EF4-FFF2-40B4-BE49-F238E27FC236}">
                <a16:creationId xmlns:a16="http://schemas.microsoft.com/office/drawing/2014/main" id="{F91696DD-E9D2-4685-A693-C361EB56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知识库后端验证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自己的登录结果</a:t>
            </a:r>
          </a:p>
        </p:txBody>
      </p:sp>
      <p:sp>
        <p:nvSpPr>
          <p:cNvPr id="22" name="同一浏览器中的统一会话，固定最多 8 小时，访问不续期">
            <a:extLst xmlns:a="http://schemas.openxmlformats.org/drawingml/2006/main">
              <a:ext uri="{FF2B5EF4-FFF2-40B4-BE49-F238E27FC236}">
                <a16:creationId xmlns:a16="http://schemas.microsoft.com/office/drawing/2014/main" id="{D67AC8DA-4841-483E-A86D-6C4B82B1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59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同一浏览器中的统一会话，固定最多 8 小时，访问不续期</a:t>
            </a:r>
          </a:p>
        </p:txBody>
      </p:sp>
      <p:sp>
        <p:nvSpPr>
          <p:cNvPr id="23" name="统一退出后，同会话后续操作最迟 3 秒拒绝；其他浏览器会话独立">
            <a:extLst xmlns:a="http://schemas.openxmlformats.org/drawingml/2006/main">
              <a:ext uri="{FF2B5EF4-FFF2-40B4-BE49-F238E27FC236}">
                <a16:creationId xmlns:a16="http://schemas.microsoft.com/office/drawing/2014/main" id="{1C5F1507-1C4A-4110-A7F1-6DC5315B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统一退出后，同会话后续操作最迟 3 秒拒绝；其他浏览器会话独立</a:t>
            </a:r>
          </a:p>
        </p:txBody>
      </p:sp>
      <p:sp>
        <p:nvSpPr>
          <p:cNvPr id="24" name="同一浏览器复用身份会话；每个系统分别验证自己的结果和业务权限。统一退出只影响当前统一 会话。">
            <a:extLst xmlns:a="http://schemas.openxmlformats.org/drawingml/2006/main">
              <a:ext uri="{FF2B5EF4-FFF2-40B4-BE49-F238E27FC236}">
                <a16:creationId xmlns:a16="http://schemas.microsoft.com/office/drawing/2014/main" id="{7736B0EA-AD07-47E4-80CD-24B6915F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同一浏览器复用身份会话；每个系统分别验证自己的结果和业务权限。统一退出只影响当前统一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会话。</a:t>
            </a:r>
          </a:p>
        </p:txBody>
      </p:sp>
      <p:sp>
        <p:nvSpPr>
          <p:cNvPr id="25" name="12">
            <a:extLst xmlns:a="http://schemas.openxmlformats.org/drawingml/2006/main">
              <a:ext uri="{FF2B5EF4-FFF2-40B4-BE49-F238E27FC236}">
                <a16:creationId xmlns:a16="http://schemas.microsoft.com/office/drawing/2014/main" id="{A09B9343-EADA-457C-8E72-F15EE6BF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80798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组织维护与管理范围">
            <a:extLst xmlns:a="http://schemas.openxmlformats.org/drawingml/2006/main">
              <a:ext uri="{FF2B5EF4-FFF2-40B4-BE49-F238E27FC236}">
                <a16:creationId xmlns:a16="http://schemas.microsoft.com/office/drawing/2014/main" id="{A20FC8BB-4322-47D3-BEFD-D070686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组织维护与管理范围</a:t>
            </a:r>
          </a:p>
        </p:txBody>
      </p:sp>
      <p:sp>
        <p:nvSpPr>
          <p:cNvPr id="2" name="公司、部门两层结构，用户名与手机号分别唯一；部门未明确时不先行授予部门角 色。">
            <a:extLst xmlns:a="http://schemas.openxmlformats.org/drawingml/2006/main">
              <a:ext uri="{FF2B5EF4-FFF2-40B4-BE49-F238E27FC236}">
                <a16:creationId xmlns:a16="http://schemas.microsoft.com/office/drawing/2014/main" id="{97C68A33-9EBF-4F3E-BF3D-E8115D39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公司、部门两层结构，用户名与手机号分别唯一；部门未明确时不先行授予部门角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色。</a:t>
            </a:r>
          </a:p>
        </p:txBody>
      </p:sp>
      <p:sp>
        <p:nvSpPr>
          <p:cNvPr id="3" name="管理身份单独任命，至少保留一名有效最高管理员；部门管理员范围取自实际所属 部门。">
            <a:extLst xmlns:a="http://schemas.openxmlformats.org/drawingml/2006/main">
              <a:ext uri="{FF2B5EF4-FFF2-40B4-BE49-F238E27FC236}">
                <a16:creationId xmlns:a16="http://schemas.microsoft.com/office/drawing/2014/main" id="{932DFD89-9166-46DB-BEAB-7EBB05AE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管理身份单独任命，至少保留一名有效最高管理员；部门管理员范围取自实际所属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部门。</a:t>
            </a:r>
          </a:p>
        </p:txBody>
      </p:sp>
      <p:sp>
        <p:nvSpPr>
          <p:cNvPr id="4" name="列表、详情、修改、批量和导出都校验范围。组织停用先处理关联，部门变化必须 走调动流程。">
            <a:extLst xmlns:a="http://schemas.openxmlformats.org/drawingml/2006/main">
              <a:ext uri="{FF2B5EF4-FFF2-40B4-BE49-F238E27FC236}">
                <a16:creationId xmlns:a16="http://schemas.microsoft.com/office/drawing/2014/main" id="{4A5A77F9-5CBF-4A95-8F2E-9B9D3047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列表、详情、修改、批量和导出都校验范围。组织停用先处理关联，部门变化必须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走调动流程。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1457F27F-0C8E-42D4-BEA7-C8E4F58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15261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系统接入与权限目录更新">
            <a:extLst xmlns:a="http://schemas.openxmlformats.org/drawingml/2006/main">
              <a:ext uri="{FF2B5EF4-FFF2-40B4-BE49-F238E27FC236}">
                <a16:creationId xmlns:a16="http://schemas.microsoft.com/office/drawing/2014/main" id="{7F9C50C9-741A-4E8D-9A8C-5E657A3A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系统接入与权限目录更新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5BAA9B2-C82C-4F9F-8A8D-BFA6B227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5963DC7-0AE5-4843-A5AD-C1749372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1727758-C505-44D6-9D3B-47608FF9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98AEF8A-9822-4D5F-85F8-9DA09B20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DA3B63A-9996-4352-B70E-F2EB663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DCB24E5-E10C-4EF7-B0F0-801F7DE0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66ABFFC-74BB-449A-A1E2-D5700620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648F08F6-3938-4DD9-8C14-11DC363B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step-0">
            <a:extLst xmlns:a="http://schemas.openxmlformats.org/drawingml/2006/main">
              <a:ext uri="{FF2B5EF4-FFF2-40B4-BE49-F238E27FC236}">
                <a16:creationId xmlns:a16="http://schemas.microsoft.com/office/drawing/2014/main" id="{1346D256-942F-4E3E-B81C-D0E25835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外部系统上报目录">
            <a:extLst xmlns:a="http://schemas.openxmlformats.org/drawingml/2006/main">
              <a:ext uri="{FF2B5EF4-FFF2-40B4-BE49-F238E27FC236}">
                <a16:creationId xmlns:a16="http://schemas.microsoft.com/office/drawing/2014/main" id="{93AE742B-E40A-4691-90DD-C092D35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外部系统上报目录</a:t>
            </a:r>
          </a:p>
        </p:txBody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6BF8F3D7-478E-4EF5-932A-808D4DF4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校验来源、完整性 与变更顺序">
            <a:extLst xmlns:a="http://schemas.openxmlformats.org/drawingml/2006/main">
              <a:ext uri="{FF2B5EF4-FFF2-40B4-BE49-F238E27FC236}">
                <a16:creationId xmlns:a16="http://schemas.microsoft.com/office/drawing/2014/main" id="{BE57742F-33A5-4D6B-AA45-7DB61936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校验来源、完整性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与变更顺序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B840E319-EDE8-4DED-B8E1-804EC779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整体确认 更新有效目录">
            <a:extLst xmlns:a="http://schemas.openxmlformats.org/drawingml/2006/main">
              <a:ext uri="{FF2B5EF4-FFF2-40B4-BE49-F238E27FC236}">
                <a16:creationId xmlns:a16="http://schemas.microsoft.com/office/drawing/2014/main" id="{0ED3C7AA-E475-46E9-904A-75541798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整体确认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更新有效目录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98E19F00-FA71-4CAA-9E6D-1E6DDD92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失败则保留旧目录">
            <a:extLst xmlns:a="http://schemas.openxmlformats.org/drawingml/2006/main">
              <a:ext uri="{FF2B5EF4-FFF2-40B4-BE49-F238E27FC236}">
                <a16:creationId xmlns:a16="http://schemas.microsoft.com/office/drawing/2014/main" id="{54E580B1-03EA-4595-A752-9C9262E5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失败则保留旧目录</a:t>
            </a:r>
          </a:p>
        </p:txBody>
      </p:sp>
      <p:sp>
        <p:nvSpPr>
          <p:cNvPr id="18" name="step-4">
            <a:extLst xmlns:a="http://schemas.openxmlformats.org/drawingml/2006/main">
              <a:ext uri="{FF2B5EF4-FFF2-40B4-BE49-F238E27FC236}">
                <a16:creationId xmlns:a16="http://schemas.microsoft.com/office/drawing/2014/main" id="{46D1494E-E181-4BF5-80E6-034BF477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修正内容或 重报同一变更">
            <a:extLst xmlns:a="http://schemas.openxmlformats.org/drawingml/2006/main">
              <a:ext uri="{FF2B5EF4-FFF2-40B4-BE49-F238E27FC236}">
                <a16:creationId xmlns:a16="http://schemas.microsoft.com/office/drawing/2014/main" id="{996AF200-33DA-4B2D-81A5-1CC1B9BC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修正内容或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重报同一变更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3E09799A-D43E-4162-900E-3F9DD86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返回明确结果 重复不增、过期不回退">
            <a:extLst xmlns:a="http://schemas.openxmlformats.org/drawingml/2006/main">
              <a:ext uri="{FF2B5EF4-FFF2-40B4-BE49-F238E27FC236}">
                <a16:creationId xmlns:a16="http://schemas.microsoft.com/office/drawing/2014/main" id="{FF576BCA-6BAD-48EB-B79B-116C97EF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返回明确结果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重复不增、过期不回退</a:t>
            </a:r>
          </a:p>
        </p:txBody>
      </p:sp>
      <p:sp>
        <p:nvSpPr>
          <p:cNvPr id="22" name="失败或确认响应丢失时处理下行；停用最多 3 秒失效，新增不自动授予">
            <a:extLst xmlns:a="http://schemas.openxmlformats.org/drawingml/2006/main">
              <a:ext uri="{FF2B5EF4-FFF2-40B4-BE49-F238E27FC236}">
                <a16:creationId xmlns:a16="http://schemas.microsoft.com/office/drawing/2014/main" id="{5394582E-9F46-4ADD-9876-2FB466D6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059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失败或确认响应丢失时处理下行；停用最多 3 秒失效，新增不自动授予</a:t>
            </a:r>
          </a:p>
        </p:txBody>
      </p:sp>
      <p:sp>
        <p:nvSpPr>
          <p:cNvPr id="23" name="箭头表示业务步骤；遗漏不推断为删除，重新启用需重新配置角色">
            <a:extLst xmlns:a="http://schemas.openxmlformats.org/drawingml/2006/main">
              <a:ext uri="{FF2B5EF4-FFF2-40B4-BE49-F238E27FC236}">
                <a16:creationId xmlns:a16="http://schemas.microsoft.com/office/drawing/2014/main" id="{FE9E8D4B-BFD1-48E8-8BD8-C972A2BF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箭头表示业务步骤；遗漏不推断为删除，重新启用需重新配置角色</a:t>
            </a:r>
          </a:p>
        </p:txBody>
      </p:sp>
      <p:sp>
        <p:nvSpPr>
          <p:cNvPr id="24" name="系统登记及部门范围由最高管理员维护；目录由外部系统上报，整体确认或拒绝。">
            <a:extLst xmlns:a="http://schemas.openxmlformats.org/drawingml/2006/main">
              <a:ext uri="{FF2B5EF4-FFF2-40B4-BE49-F238E27FC236}">
                <a16:creationId xmlns:a16="http://schemas.microsoft.com/office/drawing/2014/main" id="{BF9C03FA-4453-415C-B2F9-241A3F1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系统登记及部门范围由最高管理员维护；目录由外部系统上报，整体确认或拒绝。</a:t>
            </a:r>
          </a:p>
        </p:txBody>
      </p:sp>
      <p:sp>
        <p:nvSpPr>
          <p:cNvPr id="25" name="14">
            <a:extLst xmlns:a="http://schemas.openxmlformats.org/drawingml/2006/main">
              <a:ext uri="{FF2B5EF4-FFF2-40B4-BE49-F238E27FC236}">
                <a16:creationId xmlns:a16="http://schemas.microsoft.com/office/drawing/2014/main" id="{9E64F5EB-3270-4042-9C5A-2845F5DB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529381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模板与部门角色的配置规则">
            <a:extLst xmlns:a="http://schemas.openxmlformats.org/drawingml/2006/main">
              <a:ext uri="{FF2B5EF4-FFF2-40B4-BE49-F238E27FC236}">
                <a16:creationId xmlns:a16="http://schemas.microsoft.com/office/drawing/2014/main" id="{B474BE54-E5EB-4F67-8FEE-6506481D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模板与部门角色的配置规则</a:t>
            </a:r>
          </a:p>
        </p:txBody>
      </p:sp>
      <p:sp>
        <p:nvSpPr>
          <p:cNvPr id="2" name="五类初始岗位权限作为系统模板，供部门复制；模板不能直接分配员工。">
            <a:extLst xmlns:a="http://schemas.openxmlformats.org/drawingml/2006/main">
              <a:ext uri="{FF2B5EF4-FFF2-40B4-BE49-F238E27FC236}">
                <a16:creationId xmlns:a16="http://schemas.microsoft.com/office/drawing/2014/main" id="{A1D59B4A-81A9-4F52-8C35-BED03674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五类初始岗位权限作为系统模板，供部门复制；模板不能直接分配员工。</a:t>
            </a:r>
          </a:p>
        </p:txBody>
      </p:sp>
      <p:sp>
        <p:nvSpPr>
          <p:cNvPr id="3" name="部门角色只选本系统有效权限，复制后独立维护；新增权限不会自动进入已有角色 。">
            <a:extLst xmlns:a="http://schemas.openxmlformats.org/drawingml/2006/main">
              <a:ext uri="{FF2B5EF4-FFF2-40B4-BE49-F238E27FC236}">
                <a16:creationId xmlns:a16="http://schemas.microsoft.com/office/drawing/2014/main" id="{BC566823-97F5-4E21-B98A-0B5BA34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部门角色只选本系统有效权限，复制后独立维护；新增权限不会自动进入已有角色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4" name="修改、停用前说明影响人数；有分配不能直接删除，空权限角色不能通过受控操作 。">
            <a:extLst xmlns:a="http://schemas.openxmlformats.org/drawingml/2006/main">
              <a:ext uri="{FF2B5EF4-FFF2-40B4-BE49-F238E27FC236}">
                <a16:creationId xmlns:a16="http://schemas.microsoft.com/office/drawing/2014/main" id="{EA2E1348-32F5-4072-9B10-96D0ADD1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修改、停用前说明影响人数；有分配不能直接删除，空权限角色不能通过受控操作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ADCEC91E-C953-4256-B10B-43961DCA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237270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换角、批量处理与撤权">
            <a:extLst xmlns:a="http://schemas.openxmlformats.org/drawingml/2006/main">
              <a:ext uri="{FF2B5EF4-FFF2-40B4-BE49-F238E27FC236}">
                <a16:creationId xmlns:a16="http://schemas.microsoft.com/office/drawing/2014/main" id="{34D06B17-2016-49E1-A7D3-76B40F38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换角、批量处理与撤权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8234C95-8404-45C2-AF30-3FDEF190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644398D-CEF7-480E-85BD-D307E0D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B94AF5B-01F1-4A8B-BBEB-96BD833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91C52F1-B379-4D7C-A895-EC89A487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BA059DB-0142-4F4E-AB7F-2A004592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E9F0B2E-E9AC-4CE2-9A7E-9ED82FBA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D274BB9-4967-4BA8-9473-A0E37D0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0047F5B-5970-43D8-A6B3-AA7399EA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0CA1F3F-3C48-4B90-BC97-69BADEB2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7810500" cy="1438275"/>
          </a:xfrm>
          <a:custGeom xmlns:a="http://schemas.openxmlformats.org/drawingml/2006/main">
            <a:pathLst>
              <a:path w="7810500" h="1438275">
                <a:moveTo>
                  <a:pt x="7810500" y="0"/>
                </a:moveTo>
                <a:cubicBezTo>
                  <a:pt x="7810500" y="1209675"/>
                  <a:pt x="0" y="876300"/>
                  <a:pt x="0" y="1438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46BBF7C-119E-40B5-95A4-EB9D8DF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766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step-0">
            <a:extLst xmlns:a="http://schemas.openxmlformats.org/drawingml/2006/main">
              <a:ext uri="{FF2B5EF4-FFF2-40B4-BE49-F238E27FC236}">
                <a16:creationId xmlns:a16="http://schemas.microsoft.com/office/drawing/2014/main" id="{CF3319B0-A22B-45F8-ABA5-E7E2166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选员工、系统和角色">
            <a:extLst xmlns:a="http://schemas.openxmlformats.org/drawingml/2006/main">
              <a:ext uri="{FF2B5EF4-FFF2-40B4-BE49-F238E27FC236}">
                <a16:creationId xmlns:a16="http://schemas.microsoft.com/office/drawing/2014/main" id="{4826BBF9-1244-4300-AB0D-D50DD2DD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选员工、系统和角色</a:t>
            </a:r>
          </a:p>
        </p:txBody>
      </p:sp>
      <p:sp>
        <p:nvSpPr>
          <p:cNvPr id="14" name="step-1">
            <a:extLst xmlns:a="http://schemas.openxmlformats.org/drawingml/2006/main">
              <a:ext uri="{FF2B5EF4-FFF2-40B4-BE49-F238E27FC236}">
                <a16:creationId xmlns:a16="http://schemas.microsoft.com/office/drawing/2014/main" id="{5358ABB2-2FD5-446D-8090-5BB0DBC5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展示原角色 确认替换影响">
            <a:extLst xmlns:a="http://schemas.openxmlformats.org/drawingml/2006/main">
              <a:ext uri="{FF2B5EF4-FFF2-40B4-BE49-F238E27FC236}">
                <a16:creationId xmlns:a16="http://schemas.microsoft.com/office/drawing/2014/main" id="{64CE84DA-4A2A-4B69-A007-AC6DC12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展示原角色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确认替换影响</a:t>
            </a:r>
          </a:p>
        </p:txBody>
      </p:sp>
      <p:sp>
        <p:nvSpPr>
          <p:cNvPr id="16" name="step-2">
            <a:extLst xmlns:a="http://schemas.openxmlformats.org/drawingml/2006/main">
              <a:ext uri="{FF2B5EF4-FFF2-40B4-BE49-F238E27FC236}">
                <a16:creationId xmlns:a16="http://schemas.microsoft.com/office/drawing/2014/main" id="{6456962B-1934-4145-A50E-F6C7698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检查整批管理范围">
            <a:extLst xmlns:a="http://schemas.openxmlformats.org/drawingml/2006/main">
              <a:ext uri="{FF2B5EF4-FFF2-40B4-BE49-F238E27FC236}">
                <a16:creationId xmlns:a16="http://schemas.microsoft.com/office/drawing/2014/main" id="{1A6E0777-689E-4D2A-93BB-CE6CAEA6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检查整批管理范围</a:t>
            </a:r>
          </a:p>
        </p:txBody>
      </p:sp>
      <p:sp>
        <p:nvSpPr>
          <p:cNvPr id="18" name="step-3">
            <a:extLst xmlns:a="http://schemas.openxmlformats.org/drawingml/2006/main">
              <a:ext uri="{FF2B5EF4-FFF2-40B4-BE49-F238E27FC236}">
                <a16:creationId xmlns:a16="http://schemas.microsoft.com/office/drawing/2014/main" id="{3B936A12-166B-4FCC-817D-E732082D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合法范围内逐项处理">
            <a:extLst xmlns:a="http://schemas.openxmlformats.org/drawingml/2006/main">
              <a:ext uri="{FF2B5EF4-FFF2-40B4-BE49-F238E27FC236}">
                <a16:creationId xmlns:a16="http://schemas.microsoft.com/office/drawing/2014/main" id="{FBF8BB14-E771-47D1-8C9B-0B8753C6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合法范围内逐项处理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E32B9F3D-8784-4046-9F73-E436A6E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成功项保留 失败项可重试">
            <a:extLst xmlns:a="http://schemas.openxmlformats.org/drawingml/2006/main">
              <a:ext uri="{FF2B5EF4-FFF2-40B4-BE49-F238E27FC236}">
                <a16:creationId xmlns:a16="http://schemas.microsoft.com/office/drawing/2014/main" id="{8F174347-DC3E-4491-896A-7737E69D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成功项保留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失败项可重试</a:t>
            </a:r>
          </a:p>
        </p:txBody>
      </p:sp>
      <p:sp>
        <p:nvSpPr>
          <p:cNvPr id="22" name="step-5">
            <a:extLst xmlns:a="http://schemas.openxmlformats.org/drawingml/2006/main">
              <a:ext uri="{FF2B5EF4-FFF2-40B4-BE49-F238E27FC236}">
                <a16:creationId xmlns:a16="http://schemas.microsoft.com/office/drawing/2014/main" id="{FFEE7950-277E-4A03-8665-9C6567C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展示逐项结果 及最迟生效期限">
            <a:extLst xmlns:a="http://schemas.openxmlformats.org/drawingml/2006/main">
              <a:ext uri="{FF2B5EF4-FFF2-40B4-BE49-F238E27FC236}">
                <a16:creationId xmlns:a16="http://schemas.microsoft.com/office/drawing/2014/main" id="{DFD30721-41DE-4CC6-8944-1C7F4ECA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展示逐项结果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及最迟生效期限</a:t>
            </a:r>
          </a:p>
        </p:txBody>
      </p:sp>
      <p:sp>
        <p:nvSpPr>
          <p:cNvPr id="24" name="越范围整批拒绝；合法时继续下行">
            <a:extLst xmlns:a="http://schemas.openxmlformats.org/drawingml/2006/main">
              <a:ext uri="{FF2B5EF4-FFF2-40B4-BE49-F238E27FC236}">
                <a16:creationId xmlns:a16="http://schemas.microsoft.com/office/drawing/2014/main" id="{B05CC239-2F70-4BEF-9ACB-168C0544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14650"/>
            <a:ext cx="582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越范围整批拒绝；合法时继续下行</a:t>
            </a:r>
          </a:p>
        </p:txBody>
      </p:sp>
      <p:sp>
        <p:nvSpPr>
          <p:cNvPr id="25" name="并发冲突重新确认；撤销一个系统的角色不结束身份会话，也不影响其他系统">
            <a:extLst xmlns:a="http://schemas.openxmlformats.org/drawingml/2006/main">
              <a:ext uri="{FF2B5EF4-FFF2-40B4-BE49-F238E27FC236}">
                <a16:creationId xmlns:a16="http://schemas.microsoft.com/office/drawing/2014/main" id="{90C25D87-C36B-4CB3-8CB8-7F4CBB74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并发冲突重新确认；撤销一个系统的角色不结束身份会话，也不影响其他系统</a:t>
            </a:r>
          </a:p>
        </p:txBody>
      </p:sp>
      <p:sp>
        <p:nvSpPr>
          <p:cNvPr id="26" name="先确认影响，再检查整批范围。受理、保存成功与权限生效分别展示；逐项成功分别计算生效窗 口。">
            <a:extLst xmlns:a="http://schemas.openxmlformats.org/drawingml/2006/main">
              <a:ext uri="{FF2B5EF4-FFF2-40B4-BE49-F238E27FC236}">
                <a16:creationId xmlns:a16="http://schemas.microsoft.com/office/drawing/2014/main" id="{EB25285C-F650-4204-9E9D-9273678D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先确认影响，再检查整批范围。受理、保存成功与权限生效分别展示；逐项成功分别计算生效窗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口。</a:t>
            </a:r>
          </a:p>
        </p:txBody>
      </p:sp>
      <p:sp>
        <p:nvSpPr>
          <p:cNvPr id="27" name="16">
            <a:extLst xmlns:a="http://schemas.openxmlformats.org/drawingml/2006/main">
              <a:ext uri="{FF2B5EF4-FFF2-40B4-BE49-F238E27FC236}">
                <a16:creationId xmlns:a16="http://schemas.microsoft.com/office/drawing/2014/main" id="{24CE8A2F-355F-474E-AA3F-E176E6D1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935426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鉴权规则的处理说明">
            <a:extLst xmlns:a="http://schemas.openxmlformats.org/drawingml/2006/main">
              <a:ext uri="{FF2B5EF4-FFF2-40B4-BE49-F238E27FC236}">
                <a16:creationId xmlns:a16="http://schemas.microsoft.com/office/drawing/2014/main" id="{5DCF188A-AEF9-4196-A0CD-9D087D11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鉴权规则的处理说明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9DFF7B2-4F05-4F3A-BD71-238FDE39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43200"/>
            <a:ext cx="2371725" cy="1285875"/>
          </a:xfrm>
          <a:custGeom xmlns:a="http://schemas.openxmlformats.org/drawingml/2006/main">
            <a:pathLst>
              <a:path w="2371725" h="1285875">
                <a:moveTo>
                  <a:pt x="0" y="0"/>
                </a:moveTo>
                <a:cubicBezTo>
                  <a:pt x="0" y="1285875"/>
                  <a:pt x="1428750" y="1285875"/>
                  <a:pt x="2371725" y="1285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25F4A29-80A9-4464-BF62-BE2903C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814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B520078-BA32-41B6-B0E7-B377E01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9525" cy="800100"/>
          </a:xfrm>
          <a:custGeom xmlns:a="http://schemas.openxmlformats.org/drawingml/2006/main">
            <a:pathLst>
              <a:path w="952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67D08AB-CC16-4033-9F79-851165EE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480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1E25EFA2-6E02-4E50-92CE-255E3BDE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43200"/>
            <a:ext cx="2371725" cy="1285875"/>
          </a:xfrm>
          <a:custGeom xmlns:a="http://schemas.openxmlformats.org/drawingml/2006/main">
            <a:pathLst>
              <a:path w="2371725" h="1285875">
                <a:moveTo>
                  <a:pt x="2371725" y="0"/>
                </a:moveTo>
                <a:cubicBezTo>
                  <a:pt x="2371725" y="1285875"/>
                  <a:pt x="1038225" y="1285875"/>
                  <a:pt x="0" y="1285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6C27302-9549-4663-9D6B-76C97892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814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0"/>
                </a:lnTo>
                <a:lnTo>
                  <a:pt x="6667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identity">
            <a:extLst xmlns:a="http://schemas.openxmlformats.org/drawingml/2006/main">
              <a:ext uri="{FF2B5EF4-FFF2-40B4-BE49-F238E27FC236}">
                <a16:creationId xmlns:a16="http://schemas.microsoft.com/office/drawing/2014/main" id="{F0E98533-8323-4523-AB32-07ECDDA5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系统身份匹配 员工与当前会话有效">
            <a:extLst xmlns:a="http://schemas.openxmlformats.org/drawingml/2006/main">
              <a:ext uri="{FF2B5EF4-FFF2-40B4-BE49-F238E27FC236}">
                <a16:creationId xmlns:a16="http://schemas.microsoft.com/office/drawing/2014/main" id="{FFA7CB9D-12FD-46D2-87FF-EEA98E2E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781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系统身份匹配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员工与当前会话有效</a:t>
            </a:r>
          </a:p>
        </p:txBody>
      </p:sp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DACC3E2B-AF67-4C70-AF91-6D5C69B3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系统启用 部门可用范围有效">
            <a:extLst xmlns:a="http://schemas.openxmlformats.org/drawingml/2006/main">
              <a:ext uri="{FF2B5EF4-FFF2-40B4-BE49-F238E27FC236}">
                <a16:creationId xmlns:a16="http://schemas.microsoft.com/office/drawing/2014/main" id="{26EB3FA0-1B3F-4E4A-ABFD-9D57C1BA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781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系统启用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部门可用范围有效</a:t>
            </a:r>
          </a:p>
        </p:txBody>
      </p:sp>
      <p:sp>
        <p:nvSpPr>
          <p:cNvPr id="12" name="role">
            <a:extLst xmlns:a="http://schemas.openxmlformats.org/drawingml/2006/main">
              <a:ext uri="{FF2B5EF4-FFF2-40B4-BE49-F238E27FC236}">
                <a16:creationId xmlns:a16="http://schemas.microsoft.com/office/drawing/2014/main" id="{24F7872C-E28B-4DF4-806E-E4750B86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分配、角色、权限项有效 且包含目标操作">
            <a:extLst xmlns:a="http://schemas.openxmlformats.org/drawingml/2006/main">
              <a:ext uri="{FF2B5EF4-FFF2-40B4-BE49-F238E27FC236}">
                <a16:creationId xmlns:a16="http://schemas.microsoft.com/office/drawing/2014/main" id="{522910CF-3F48-4879-A445-BCDAA408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781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分配、角色、权限项有效</a:t>
            </a:r>
          </a:p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且包含目标操作</a:t>
            </a:r>
          </a:p>
        </p:txBody>
      </p:sp>
      <p:sp>
        <p:nvSpPr>
          <p:cNvPr id="14" name="all">
            <a:extLst xmlns:a="http://schemas.openxmlformats.org/drawingml/2006/main">
              <a:ext uri="{FF2B5EF4-FFF2-40B4-BE49-F238E27FC236}">
                <a16:creationId xmlns:a16="http://schemas.microsoft.com/office/drawing/2014/main" id="{F0AC4192-7CEC-42F7-9E6E-3DFEA1E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全部必要条件成立">
            <a:extLst xmlns:a="http://schemas.openxmlformats.org/drawingml/2006/main">
              <a:ext uri="{FF2B5EF4-FFF2-40B4-BE49-F238E27FC236}">
                <a16:creationId xmlns:a16="http://schemas.microsoft.com/office/drawing/2014/main" id="{554345DB-0D74-45C2-B4D2-C2B19421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67125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全部必要条件成立</a:t>
            </a:r>
          </a:p>
        </p:txBody>
      </p:sp>
      <p:sp>
        <p:nvSpPr>
          <p:cNvPr id="16" name="全部成立：允许；任一无效、未知或无法确认：拒绝执行">
            <a:extLst xmlns:a="http://schemas.openxmlformats.org/drawingml/2006/main">
              <a:ext uri="{FF2B5EF4-FFF2-40B4-BE49-F238E27FC236}">
                <a16:creationId xmlns:a16="http://schemas.microsoft.com/office/drawing/2014/main" id="{405C5611-E015-4A41-ABCF-0F07526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全部成立：允许；任一无效、未知或无法确认：拒绝执行</a:t>
            </a:r>
          </a:p>
        </p:txBody>
      </p:sp>
      <p:sp>
        <p:nvSpPr>
          <p:cNvPr id="17" name="图示为条件汇合，不规定程序检查顺序；“本人”等数据范围由外部系统继续校验">
            <a:extLst xmlns:a="http://schemas.openxmlformats.org/drawingml/2006/main">
              <a:ext uri="{FF2B5EF4-FFF2-40B4-BE49-F238E27FC236}">
                <a16:creationId xmlns:a16="http://schemas.microsoft.com/office/drawing/2014/main" id="{95A30790-34D9-48A1-BB26-8FDDCFEE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图示为条件汇合，不规定程序检查顺序；“本人”等数据范围由外部系统继续校验</a:t>
            </a:r>
          </a:p>
        </p:txBody>
      </p:sp>
      <p:sp>
        <p:nvSpPr>
          <p:cNvPr id="18" name="必要条件同时成立才允许；未知、无效或无法确认时拒绝。条件组合表示业务规则，不规定程序 检查顺序。">
            <a:extLst xmlns:a="http://schemas.openxmlformats.org/drawingml/2006/main">
              <a:ext uri="{FF2B5EF4-FFF2-40B4-BE49-F238E27FC236}">
                <a16:creationId xmlns:a16="http://schemas.microsoft.com/office/drawing/2014/main" id="{18A34EC7-05B8-4548-A5B4-48F1C354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必要条件同时成立才允许；未知、无效或无法确认时拒绝。条件组合表示业务规则，不规定程序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检查顺序。</a:t>
            </a:r>
          </a:p>
        </p:txBody>
      </p:sp>
      <p:sp>
        <p:nvSpPr>
          <p:cNvPr id="19" name="17">
            <a:extLst xmlns:a="http://schemas.openxmlformats.org/drawingml/2006/main">
              <a:ext uri="{FF2B5EF4-FFF2-40B4-BE49-F238E27FC236}">
                <a16:creationId xmlns:a16="http://schemas.microsoft.com/office/drawing/2014/main" id="{1970BF87-5CAF-4B2A-93E8-AC8729A4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12438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员工停用与跨部门调动">
            <a:extLst xmlns:a="http://schemas.openxmlformats.org/drawingml/2006/main">
              <a:ext uri="{FF2B5EF4-FFF2-40B4-BE49-F238E27FC236}">
                <a16:creationId xmlns:a16="http://schemas.microsoft.com/office/drawing/2014/main" id="{E2FDE31A-B33B-4A19-B1E3-C5172B2B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员工停用与跨部门调动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1D562B3-722D-42F0-9DE7-4E00F12E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9B0FE31-C18E-4BDA-BFDA-D29BD447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37BBF7C-1B50-4C61-9D70-2123615D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9073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321E35B-E858-4592-82E5-7785966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311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F63C695-F395-4530-BD8D-A7C7FEF3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25C9F14-0289-4103-ADF6-7BF2B441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4724F5A-C474-480E-9AD3-B96C2C7E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5EA20F0-17AF-4EF7-9CE2-35AB9427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0C33D2D-8E70-425E-A9BF-C9797EB0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7810500" cy="1438275"/>
          </a:xfrm>
          <a:custGeom xmlns:a="http://schemas.openxmlformats.org/drawingml/2006/main">
            <a:pathLst>
              <a:path w="7810500" h="1438275">
                <a:moveTo>
                  <a:pt x="7810500" y="0"/>
                </a:moveTo>
                <a:cubicBezTo>
                  <a:pt x="7810500" y="1209675"/>
                  <a:pt x="0" y="876300"/>
                  <a:pt x="0" y="1438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239212D-56D6-48AA-83CF-1DF750F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766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step-0">
            <a:extLst xmlns:a="http://schemas.openxmlformats.org/drawingml/2006/main">
              <a:ext uri="{FF2B5EF4-FFF2-40B4-BE49-F238E27FC236}">
                <a16:creationId xmlns:a16="http://schemas.microsoft.com/office/drawing/2014/main" id="{7A75BFFD-BDA0-42D4-8575-D9EFE47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原部门撤销全部角色">
            <a:extLst xmlns:a="http://schemas.openxmlformats.org/drawingml/2006/main">
              <a:ext uri="{FF2B5EF4-FFF2-40B4-BE49-F238E27FC236}">
                <a16:creationId xmlns:a16="http://schemas.microsoft.com/office/drawing/2014/main" id="{8705B317-E1DE-4659-AA6E-9CFA0796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原部门撤销全部角色</a:t>
            </a:r>
          </a:p>
        </p:txBody>
      </p:sp>
      <p:sp>
        <p:nvSpPr>
          <p:cNvPr id="14" name="step-1">
            <a:extLst xmlns:a="http://schemas.openxmlformats.org/drawingml/2006/main">
              <a:ext uri="{FF2B5EF4-FFF2-40B4-BE49-F238E27FC236}">
                <a16:creationId xmlns:a16="http://schemas.microsoft.com/office/drawing/2014/main" id="{BC431EB9-12A0-493C-90CE-383EF4A2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核对全部撤权已生效">
            <a:extLst xmlns:a="http://schemas.openxmlformats.org/drawingml/2006/main">
              <a:ext uri="{FF2B5EF4-FFF2-40B4-BE49-F238E27FC236}">
                <a16:creationId xmlns:a16="http://schemas.microsoft.com/office/drawing/2014/main" id="{60ACB033-42E7-48C6-B66F-7EE2AAFA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核对全部撤权已生效</a:t>
            </a:r>
          </a:p>
        </p:txBody>
      </p:sp>
      <p:sp>
        <p:nvSpPr>
          <p:cNvPr id="16" name="step-2">
            <a:extLst xmlns:a="http://schemas.openxmlformats.org/drawingml/2006/main">
              <a:ext uri="{FF2B5EF4-FFF2-40B4-BE49-F238E27FC236}">
                <a16:creationId xmlns:a16="http://schemas.microsoft.com/office/drawing/2014/main" id="{C6937229-A27D-4040-8325-D86520ED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最高管理员检查 取消旧管理身份">
            <a:extLst xmlns:a="http://schemas.openxmlformats.org/drawingml/2006/main">
              <a:ext uri="{FF2B5EF4-FFF2-40B4-BE49-F238E27FC236}">
                <a16:creationId xmlns:a16="http://schemas.microsoft.com/office/drawing/2014/main" id="{C71E92CC-528E-4475-86E2-9A23D90B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最高管理员检查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取消旧管理身份</a:t>
            </a:r>
          </a:p>
        </p:txBody>
      </p:sp>
      <p:sp>
        <p:nvSpPr>
          <p:cNvPr id="18" name="step-3">
            <a:extLst xmlns:a="http://schemas.openxmlformats.org/drawingml/2006/main">
              <a:ext uri="{FF2B5EF4-FFF2-40B4-BE49-F238E27FC236}">
                <a16:creationId xmlns:a16="http://schemas.microsoft.com/office/drawing/2014/main" id="{3B55031B-ECEC-4058-BBA1-7CA97C8C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调整员工部门">
            <a:extLst xmlns:a="http://schemas.openxmlformats.org/drawingml/2006/main">
              <a:ext uri="{FF2B5EF4-FFF2-40B4-BE49-F238E27FC236}">
                <a16:creationId xmlns:a16="http://schemas.microsoft.com/office/drawing/2014/main" id="{8FA77CF3-5783-4186-99FE-F69237F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调整员工部门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04D97BAD-7BFB-4E2E-B840-A54FBC0E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新部门重新授权">
            <a:extLst xmlns:a="http://schemas.openxmlformats.org/drawingml/2006/main">
              <a:ext uri="{FF2B5EF4-FFF2-40B4-BE49-F238E27FC236}">
                <a16:creationId xmlns:a16="http://schemas.microsoft.com/office/drawing/2014/main" id="{E60D737B-97A0-456B-8DC5-F71D622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新部门重新授权</a:t>
            </a:r>
          </a:p>
        </p:txBody>
      </p:sp>
      <p:sp>
        <p:nvSpPr>
          <p:cNvPr id="22" name="step-5">
            <a:extLst xmlns:a="http://schemas.openxmlformats.org/drawingml/2006/main">
              <a:ext uri="{FF2B5EF4-FFF2-40B4-BE49-F238E27FC236}">
                <a16:creationId xmlns:a16="http://schemas.microsoft.com/office/drawing/2014/main" id="{5D4ABB68-A257-463E-AAA9-11702E75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按新归属判断权限 不继承旧角色或身份">
            <a:extLst xmlns:a="http://schemas.openxmlformats.org/drawingml/2006/main">
              <a:ext uri="{FF2B5EF4-FFF2-40B4-BE49-F238E27FC236}">
                <a16:creationId xmlns:a16="http://schemas.microsoft.com/office/drawing/2014/main" id="{0A773D07-A129-403E-A371-D38D0AFF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按新归属判断权限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不继承旧角色或身份</a:t>
            </a:r>
          </a:p>
        </p:txBody>
      </p:sp>
      <p:sp>
        <p:nvSpPr>
          <p:cNvPr id="24" name="存在未撤销分配或冲突时停止调动">
            <a:extLst xmlns:a="http://schemas.openxmlformats.org/drawingml/2006/main">
              <a:ext uri="{FF2B5EF4-FFF2-40B4-BE49-F238E27FC236}">
                <a16:creationId xmlns:a16="http://schemas.microsoft.com/office/drawing/2014/main" id="{ADA8ABE8-10A6-4168-B87A-7135A87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14650"/>
            <a:ext cx="582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存在未撤销分配或冲突时停止调动</a:t>
            </a:r>
          </a:p>
        </p:txBody>
      </p:sp>
      <p:sp>
        <p:nvSpPr>
          <p:cNvPr id="25" name="员工停用：撤销全部角色并结束全部会话；重新启用不恢复已撤销分配">
            <a:extLst xmlns:a="http://schemas.openxmlformats.org/drawingml/2006/main">
              <a:ext uri="{FF2B5EF4-FFF2-40B4-BE49-F238E27FC236}">
                <a16:creationId xmlns:a16="http://schemas.microsoft.com/office/drawing/2014/main" id="{EC3D5E32-46AB-4D29-ABA6-5A16DCDA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员工停用：撤销全部角色并结束全部会话；重新启用不恢复已撤销分配</a:t>
            </a:r>
          </a:p>
        </p:txBody>
      </p:sp>
      <p:sp>
        <p:nvSpPr>
          <p:cNvPr id="26" name="停用影响全部角色分配与全部会话；调动先撤权、核对生效，再变更归属并重新授权。">
            <a:extLst xmlns:a="http://schemas.openxmlformats.org/drawingml/2006/main">
              <a:ext uri="{FF2B5EF4-FFF2-40B4-BE49-F238E27FC236}">
                <a16:creationId xmlns:a16="http://schemas.microsoft.com/office/drawing/2014/main" id="{5AB56CD2-809F-49F8-AD41-A8E7E51E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停用影响全部角色分配与全部会话；调动先撤权、核对生效，再变更归属并重新授权。</a:t>
            </a:r>
          </a:p>
        </p:txBody>
      </p:sp>
      <p:sp>
        <p:nvSpPr>
          <p:cNvPr id="27" name="18">
            <a:extLst xmlns:a="http://schemas.openxmlformats.org/drawingml/2006/main">
              <a:ext uri="{FF2B5EF4-FFF2-40B4-BE49-F238E27FC236}">
                <a16:creationId xmlns:a16="http://schemas.microsoft.com/office/drawing/2014/main" id="{4CC7D7A4-39ED-4682-A0E8-9131416F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25594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查询、审计与故障语义">
            <a:extLst xmlns:a="http://schemas.openxmlformats.org/drawingml/2006/main">
              <a:ext uri="{FF2B5EF4-FFF2-40B4-BE49-F238E27FC236}">
                <a16:creationId xmlns:a16="http://schemas.microsoft.com/office/drawing/2014/main" id="{68A34A79-BB9C-48C7-9598-203BF6D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查询、审计与故障语义</a:t>
            </a:r>
          </a:p>
        </p:txBody>
      </p:sp>
      <p:sp>
        <p:nvSpPr>
          <p:cNvPr id="2" name="查询区分保存配置、有效权限和失效原因；审计按时间、对象、当时范围与结果追 踪，导出也受范围约束。">
            <a:extLst xmlns:a="http://schemas.openxmlformats.org/drawingml/2006/main">
              <a:ext uri="{FF2B5EF4-FFF2-40B4-BE49-F238E27FC236}">
                <a16:creationId xmlns:a16="http://schemas.microsoft.com/office/drawing/2014/main" id="{8965FF6C-51A5-47E9-9D33-C6F5F3D0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查询区分保存配置、有效权限和失效原因；审计按时间、对象、当时范围与结果追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踪，导出也受范围约束。</a:t>
            </a:r>
          </a:p>
        </p:txBody>
      </p:sp>
      <p:sp>
        <p:nvSpPr>
          <p:cNvPr id="3" name="审计失败不提交管理变更，不确认新登录，暂停新受控操作；已退出会话不恢复。">
            <a:extLst xmlns:a="http://schemas.openxmlformats.org/drawingml/2006/main">
              <a:ext uri="{FF2B5EF4-FFF2-40B4-BE49-F238E27FC236}">
                <a16:creationId xmlns:a16="http://schemas.microsoft.com/office/drawing/2014/main" id="{8AF40B7A-3567-4372-BCBA-A350C21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审计失败不提交管理变更，不确认新登录，暂停新受控操作；已退出会话不恢复。</a:t>
            </a:r>
          </a:p>
        </p:txBody>
      </p:sp>
      <p:sp>
        <p:nvSpPr>
          <p:cNvPr id="4" name="故障缺口明确报告，不承诺完整补录。正常允许鉴权只统计，拒绝与异常留痕。">
            <a:extLst xmlns:a="http://schemas.openxmlformats.org/drawingml/2006/main">
              <a:ext uri="{FF2B5EF4-FFF2-40B4-BE49-F238E27FC236}">
                <a16:creationId xmlns:a16="http://schemas.microsoft.com/office/drawing/2014/main" id="{D5A6D76F-AC8A-4E65-BE07-8AE29EF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故障缺口明确报告，不承诺完整补录。正常允许鉴权只统计，拒绝与异常留痕。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FCC0AF51-4E5A-4A46-A199-4C8E0D1B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400076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DFD 处理怎样映射为六个模块">
            <a:extLst xmlns:a="http://schemas.openxmlformats.org/drawingml/2006/main">
              <a:ext uri="{FF2B5EF4-FFF2-40B4-BE49-F238E27FC236}">
                <a16:creationId xmlns:a16="http://schemas.microsoft.com/office/drawing/2014/main" id="{5E39A543-3542-4ECC-BE82-FC726BDA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DFD 处理怎样映射为六个模块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EB38048-3344-424A-850D-2A18742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90700"/>
            <a:ext cx="2990850" cy="9525"/>
          </a:xfrm>
          <a:custGeom xmlns:a="http://schemas.openxmlformats.org/drawingml/2006/main">
            <a:pathLst>
              <a:path w="2990850" h="9525">
                <a:moveTo>
                  <a:pt x="0" y="9525"/>
                </a:moveTo>
                <a:cubicBezTo>
                  <a:pt x="1381125" y="9525"/>
                  <a:pt x="1571625" y="0"/>
                  <a:pt x="29908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941C7E5-E6BB-45AA-A397-D429E61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430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8FA11459-91F5-4067-B2C9-5E258912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6500"/>
            <a:ext cx="2990850" cy="161925"/>
          </a:xfrm>
          <a:custGeom xmlns:a="http://schemas.openxmlformats.org/drawingml/2006/main">
            <a:pathLst>
              <a:path w="2990850" h="161925">
                <a:moveTo>
                  <a:pt x="0" y="161925"/>
                </a:moveTo>
                <a:cubicBezTo>
                  <a:pt x="1381125" y="161925"/>
                  <a:pt x="1571625" y="0"/>
                  <a:pt x="29908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3E71ECD-B85F-4849-831A-FD393C2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288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17ED9E3-0CED-4A28-BE91-215E019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62300"/>
            <a:ext cx="2990850" cy="314325"/>
          </a:xfrm>
          <a:custGeom xmlns:a="http://schemas.openxmlformats.org/drawingml/2006/main">
            <a:pathLst>
              <a:path w="2990850" h="314325">
                <a:moveTo>
                  <a:pt x="0" y="314325"/>
                </a:moveTo>
                <a:cubicBezTo>
                  <a:pt x="1381125" y="314325"/>
                  <a:pt x="1571625" y="0"/>
                  <a:pt x="29908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CFF9C92-7232-46F7-966A-7D02A18F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146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580B41F-9581-46E5-BC6C-09DF0F20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76625"/>
            <a:ext cx="2990850" cy="371475"/>
          </a:xfrm>
          <a:custGeom xmlns:a="http://schemas.openxmlformats.org/drawingml/2006/main">
            <a:pathLst>
              <a:path w="2990850" h="371475">
                <a:moveTo>
                  <a:pt x="0" y="0"/>
                </a:moveTo>
                <a:cubicBezTo>
                  <a:pt x="1381125" y="0"/>
                  <a:pt x="1571625" y="371475"/>
                  <a:pt x="2990850" y="3714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7E051398-DBE0-45BC-AFE7-5C5EBBD8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004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906CBBA-ABF5-43A0-95CF-B3BB4780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14825"/>
            <a:ext cx="2990850" cy="219075"/>
          </a:xfrm>
          <a:custGeom xmlns:a="http://schemas.openxmlformats.org/drawingml/2006/main">
            <a:pathLst>
              <a:path w="2990850" h="219075">
                <a:moveTo>
                  <a:pt x="0" y="0"/>
                </a:moveTo>
                <a:cubicBezTo>
                  <a:pt x="1381125" y="0"/>
                  <a:pt x="1571625" y="219075"/>
                  <a:pt x="2990850" y="2190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8341E78E-EDE0-46B2-8788-23A3E949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4862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AA0CF7C-F244-4C0D-9B46-F4E4B98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53025"/>
            <a:ext cx="2990850" cy="66675"/>
          </a:xfrm>
          <a:custGeom xmlns:a="http://schemas.openxmlformats.org/drawingml/2006/main">
            <a:pathLst>
              <a:path w="2990850" h="66675">
                <a:moveTo>
                  <a:pt x="0" y="0"/>
                </a:moveTo>
                <a:cubicBezTo>
                  <a:pt x="1381125" y="0"/>
                  <a:pt x="1571625" y="66675"/>
                  <a:pt x="2990850" y="66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EA002E8-2E3F-47D6-9C8B-3C3A2E8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720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4" name="p0">
            <a:extLst xmlns:a="http://schemas.openxmlformats.org/drawingml/2006/main">
              <a:ext uri="{FF2B5EF4-FFF2-40B4-BE49-F238E27FC236}">
                <a16:creationId xmlns:a16="http://schemas.microsoft.com/office/drawing/2014/main" id="{EE25FA34-BFEF-4474-A468-1560F9DA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P1 身份认证与会话">
            <a:extLst xmlns:a="http://schemas.openxmlformats.org/drawingml/2006/main">
              <a:ext uri="{FF2B5EF4-FFF2-40B4-BE49-F238E27FC236}">
                <a16:creationId xmlns:a16="http://schemas.microsoft.com/office/drawing/2014/main" id="{C4627B9C-42E5-4EF4-B974-D4B52B5B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P1 身份认证与会话</a:t>
            </a:r>
          </a:p>
        </p:txBody>
      </p:sp>
      <p:sp>
        <p:nvSpPr>
          <p:cNvPr id="16" name="p1">
            <a:extLst xmlns:a="http://schemas.openxmlformats.org/drawingml/2006/main">
              <a:ext uri="{FF2B5EF4-FFF2-40B4-BE49-F238E27FC236}">
                <a16:creationId xmlns:a16="http://schemas.microsoft.com/office/drawing/2014/main" id="{45F6E777-9E40-418F-8B8B-05A4EDE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P2 组织与管理范围">
            <a:extLst xmlns:a="http://schemas.openxmlformats.org/drawingml/2006/main">
              <a:ext uri="{FF2B5EF4-FFF2-40B4-BE49-F238E27FC236}">
                <a16:creationId xmlns:a16="http://schemas.microsoft.com/office/drawing/2014/main" id="{485C8530-D34F-426C-A6BD-084804CC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P2 组织与管理范围</a:t>
            </a:r>
          </a:p>
        </p:txBody>
      </p:sp>
      <p:sp>
        <p:nvSpPr>
          <p:cNvPr id="18" name="p2">
            <a:extLst xmlns:a="http://schemas.openxmlformats.org/drawingml/2006/main">
              <a:ext uri="{FF2B5EF4-FFF2-40B4-BE49-F238E27FC236}">
                <a16:creationId xmlns:a16="http://schemas.microsoft.com/office/drawing/2014/main" id="{9B27D442-EDF1-4A40-80E9-ABE62911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P3 系统目录与角色">
            <a:extLst xmlns:a="http://schemas.openxmlformats.org/drawingml/2006/main">
              <a:ext uri="{FF2B5EF4-FFF2-40B4-BE49-F238E27FC236}">
                <a16:creationId xmlns:a16="http://schemas.microsoft.com/office/drawing/2014/main" id="{48BA74F4-5783-42D5-AE6D-34EC7CDA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P3 系统目录与角色</a:t>
            </a:r>
          </a:p>
        </p:txBody>
      </p:sp>
      <p:sp>
        <p:nvSpPr>
          <p:cNvPr id="20" name="p3">
            <a:extLst xmlns:a="http://schemas.openxmlformats.org/drawingml/2006/main">
              <a:ext uri="{FF2B5EF4-FFF2-40B4-BE49-F238E27FC236}">
                <a16:creationId xmlns:a16="http://schemas.microsoft.com/office/drawing/2014/main" id="{2CCA5B38-3BB4-4618-B29A-1C5863D0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P4 授权与鉴权">
            <a:extLst xmlns:a="http://schemas.openxmlformats.org/drawingml/2006/main">
              <a:ext uri="{FF2B5EF4-FFF2-40B4-BE49-F238E27FC236}">
                <a16:creationId xmlns:a16="http://schemas.microsoft.com/office/drawing/2014/main" id="{907F686C-9B0E-4EFC-818B-436B7521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 授权与鉴权</a:t>
            </a:r>
          </a:p>
        </p:txBody>
      </p:sp>
      <p:sp>
        <p:nvSpPr>
          <p:cNvPr id="22" name="p4">
            <a:extLst xmlns:a="http://schemas.openxmlformats.org/drawingml/2006/main">
              <a:ext uri="{FF2B5EF4-FFF2-40B4-BE49-F238E27FC236}">
                <a16:creationId xmlns:a16="http://schemas.microsoft.com/office/drawing/2014/main" id="{02C297CC-BA8F-4AA0-9D42-8F184B5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P5 审计查询与统计">
            <a:extLst xmlns:a="http://schemas.openxmlformats.org/drawingml/2006/main">
              <a:ext uri="{FF2B5EF4-FFF2-40B4-BE49-F238E27FC236}">
                <a16:creationId xmlns:a16="http://schemas.microsoft.com/office/drawing/2014/main" id="{8159B9E8-12A2-42B5-925B-CE4E62F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P5 审计查询与统计</a:t>
            </a:r>
          </a:p>
        </p:txBody>
      </p:sp>
      <p:sp>
        <p:nvSpPr>
          <p:cNvPr id="24" name="m0">
            <a:extLst xmlns:a="http://schemas.openxmlformats.org/drawingml/2006/main">
              <a:ext uri="{FF2B5EF4-FFF2-40B4-BE49-F238E27FC236}">
                <a16:creationId xmlns:a16="http://schemas.microsoft.com/office/drawing/2014/main" id="{1E7621BC-7AC8-4FEA-8CC7-A31FEFDE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049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5" name="M1 身份认证与会话">
            <a:extLst xmlns:a="http://schemas.openxmlformats.org/drawingml/2006/main">
              <a:ext uri="{FF2B5EF4-FFF2-40B4-BE49-F238E27FC236}">
                <a16:creationId xmlns:a16="http://schemas.microsoft.com/office/drawing/2014/main" id="{75DE4F15-06D9-4C16-993F-C25BB532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240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M1 身份认证与会话</a:t>
            </a:r>
          </a:p>
        </p:txBody>
      </p:sp>
      <p:sp>
        <p:nvSpPr>
          <p:cNvPr id="26" name="m1">
            <a:extLst xmlns:a="http://schemas.openxmlformats.org/drawingml/2006/main">
              <a:ext uri="{FF2B5EF4-FFF2-40B4-BE49-F238E27FC236}">
                <a16:creationId xmlns:a16="http://schemas.microsoft.com/office/drawing/2014/main" id="{65889E7E-D0A4-4C06-9A31-8E7A17EB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7" name="M2 组织与管理范围">
            <a:extLst xmlns:a="http://schemas.openxmlformats.org/drawingml/2006/main">
              <a:ext uri="{FF2B5EF4-FFF2-40B4-BE49-F238E27FC236}">
                <a16:creationId xmlns:a16="http://schemas.microsoft.com/office/drawing/2014/main" id="{F8185DA1-B9ED-4465-AFE8-1C08332F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M2 组织与管理范围</a:t>
            </a:r>
          </a:p>
        </p:txBody>
      </p:sp>
      <p:sp>
        <p:nvSpPr>
          <p:cNvPr id="28" name="m2">
            <a:extLst xmlns:a="http://schemas.openxmlformats.org/drawingml/2006/main">
              <a:ext uri="{FF2B5EF4-FFF2-40B4-BE49-F238E27FC236}">
                <a16:creationId xmlns:a16="http://schemas.microsoft.com/office/drawing/2014/main" id="{D930461F-5E07-44E9-8D8F-E80040DF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9" name="M3 系统接入">
            <a:extLst xmlns:a="http://schemas.openxmlformats.org/drawingml/2006/main">
              <a:ext uri="{FF2B5EF4-FFF2-40B4-BE49-F238E27FC236}">
                <a16:creationId xmlns:a16="http://schemas.microsoft.com/office/drawing/2014/main" id="{22901945-EDD7-4C5A-ABE5-CD4296D3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M3 系统接入</a:t>
            </a:r>
          </a:p>
        </p:txBody>
      </p:sp>
      <p:sp>
        <p:nvSpPr>
          <p:cNvPr id="30" name="m3">
            <a:extLst xmlns:a="http://schemas.openxmlformats.org/drawingml/2006/main">
              <a:ext uri="{FF2B5EF4-FFF2-40B4-BE49-F238E27FC236}">
                <a16:creationId xmlns:a16="http://schemas.microsoft.com/office/drawing/2014/main" id="{4FCC4C80-65AF-46BD-AA71-0C05ABF4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1" name="M4 权限目录与角色">
            <a:extLst xmlns:a="http://schemas.openxmlformats.org/drawingml/2006/main">
              <a:ext uri="{FF2B5EF4-FFF2-40B4-BE49-F238E27FC236}">
                <a16:creationId xmlns:a16="http://schemas.microsoft.com/office/drawing/2014/main" id="{A279E2A2-0E83-465C-8EFE-0BC499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814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M4 权限目录与角色</a:t>
            </a:r>
          </a:p>
        </p:txBody>
      </p:sp>
      <p:sp>
        <p:nvSpPr>
          <p:cNvPr id="32" name="m4">
            <a:extLst xmlns:a="http://schemas.openxmlformats.org/drawingml/2006/main">
              <a:ext uri="{FF2B5EF4-FFF2-40B4-BE49-F238E27FC236}">
                <a16:creationId xmlns:a16="http://schemas.microsoft.com/office/drawing/2014/main" id="{94C78F07-EB5B-49C5-BB7B-9DC6113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481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3" name="M5 授权与鉴权">
            <a:extLst xmlns:a="http://schemas.openxmlformats.org/drawingml/2006/main">
              <a:ext uri="{FF2B5EF4-FFF2-40B4-BE49-F238E27FC236}">
                <a16:creationId xmlns:a16="http://schemas.microsoft.com/office/drawing/2014/main" id="{A7A552A8-455C-419D-AC7C-0DD4DF36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M5 授权与鉴权</a:t>
            </a:r>
          </a:p>
        </p:txBody>
      </p:sp>
      <p:sp>
        <p:nvSpPr>
          <p:cNvPr id="34" name="m5">
            <a:extLst xmlns:a="http://schemas.openxmlformats.org/drawingml/2006/main">
              <a:ext uri="{FF2B5EF4-FFF2-40B4-BE49-F238E27FC236}">
                <a16:creationId xmlns:a16="http://schemas.microsoft.com/office/drawing/2014/main" id="{3570834F-CB4A-4482-921B-14D6CA5A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3395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5" name="M6 审计与统计">
            <a:extLst xmlns:a="http://schemas.openxmlformats.org/drawingml/2006/main">
              <a:ext uri="{FF2B5EF4-FFF2-40B4-BE49-F238E27FC236}">
                <a16:creationId xmlns:a16="http://schemas.microsoft.com/office/drawing/2014/main" id="{51FB64C3-100C-44A9-9643-2F91366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M6 审计与统计</a:t>
            </a:r>
          </a:p>
        </p:txBody>
      </p:sp>
      <p:sp>
        <p:nvSpPr>
          <p:cNvPr id="36" name="按业务责任分配">
            <a:extLst xmlns:a="http://schemas.openxmlformats.org/drawingml/2006/main">
              <a:ext uri="{FF2B5EF4-FFF2-40B4-BE49-F238E27FC236}">
                <a16:creationId xmlns:a16="http://schemas.microsoft.com/office/drawing/2014/main" id="{F5BEEE3E-2B3C-4146-B5BD-35AFFF68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按业务责任分配</a:t>
            </a:r>
          </a:p>
        </p:txBody>
      </p:sp>
      <p:sp>
        <p:nvSpPr>
          <p:cNvPr id="37" name="P3 中接入身份与 目录角色的变化来源不同">
            <a:extLst xmlns:a="http://schemas.openxmlformats.org/drawingml/2006/main">
              <a:ext uri="{FF2B5EF4-FFF2-40B4-BE49-F238E27FC236}">
                <a16:creationId xmlns:a16="http://schemas.microsoft.com/office/drawing/2014/main" id="{B7E38F35-E953-476C-BE9B-E828095C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28289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P3 中接入身份与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目录角色的变化来源不同</a:t>
            </a:r>
          </a:p>
        </p:txBody>
      </p:sp>
      <p:sp>
        <p:nvSpPr>
          <p:cNvPr id="38" name="P3 进一步拆为系统接入、权限目录与角色。根据责任和变化来源划分，模块不等于页面或部署 单元。">
            <a:extLst xmlns:a="http://schemas.openxmlformats.org/drawingml/2006/main">
              <a:ext uri="{FF2B5EF4-FFF2-40B4-BE49-F238E27FC236}">
                <a16:creationId xmlns:a16="http://schemas.microsoft.com/office/drawing/2014/main" id="{365EA732-4657-4FAC-BBAD-424D487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P3 进一步拆为系统接入、权限目录与角色。根据责任和变化来源划分，模块不等于页面或部署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单元。</a:t>
            </a:r>
          </a:p>
        </p:txBody>
      </p:sp>
      <p:sp>
        <p:nvSpPr>
          <p:cNvPr id="39" name="20">
            <a:extLst xmlns:a="http://schemas.openxmlformats.org/drawingml/2006/main">
              <a:ext uri="{FF2B5EF4-FFF2-40B4-BE49-F238E27FC236}">
                <a16:creationId xmlns:a16="http://schemas.microsoft.com/office/drawing/2014/main" id="{8C8944B1-0669-4FF6-8B6B-2DE8F1F2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00312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变换分析与事务分析的适用位置">
            <a:extLst xmlns:a="http://schemas.openxmlformats.org/drawingml/2006/main">
              <a:ext uri="{FF2B5EF4-FFF2-40B4-BE49-F238E27FC236}">
                <a16:creationId xmlns:a16="http://schemas.microsoft.com/office/drawing/2014/main" id="{AB6A4432-7261-426D-A949-B7D7B8FE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变换分析与事务分析的适用位置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BD4662BB-76EA-4696-9F54-AF766028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19363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DAC9D036-1574-4685-B3DC-FFA8EB34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71738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F21C360B-97A1-435C-970D-579B34BA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19363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38D2413-448E-4BC0-9B21-0819EFD4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71738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C505CA2-B02C-4F3E-98E5-E802330E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629150"/>
            <a:ext cx="3571875" cy="342900"/>
          </a:xfrm>
          <a:custGeom xmlns:a="http://schemas.openxmlformats.org/drawingml/2006/main">
            <a:pathLst>
              <a:path w="3571875" h="342900">
                <a:moveTo>
                  <a:pt x="3571875" y="0"/>
                </a:moveTo>
                <a:cubicBezTo>
                  <a:pt x="3571875" y="209550"/>
                  <a:pt x="0" y="209550"/>
                  <a:pt x="0" y="342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52FDCD1-4B48-4DFA-83F7-E9069B0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768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A798235C-6099-4CC4-AB28-8A107421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29150"/>
            <a:ext cx="1190625" cy="342900"/>
          </a:xfrm>
          <a:custGeom xmlns:a="http://schemas.openxmlformats.org/drawingml/2006/main">
            <a:pathLst>
              <a:path w="1190625" h="342900">
                <a:moveTo>
                  <a:pt x="1190625" y="0"/>
                </a:moveTo>
                <a:cubicBezTo>
                  <a:pt x="1190625" y="209550"/>
                  <a:pt x="0" y="209550"/>
                  <a:pt x="0" y="342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C0C4BE4-2FB8-49EF-8DD3-DE78243E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0F9DECA-E405-46DC-9D47-4308CC97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190625" cy="342900"/>
          </a:xfrm>
          <a:custGeom xmlns:a="http://schemas.openxmlformats.org/drawingml/2006/main">
            <a:pathLst>
              <a:path w="1190625" h="342900">
                <a:moveTo>
                  <a:pt x="0" y="0"/>
                </a:moveTo>
                <a:cubicBezTo>
                  <a:pt x="0" y="209550"/>
                  <a:pt x="1190625" y="209550"/>
                  <a:pt x="1190625" y="342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583DB91-AACA-48E2-B6D4-F55917E1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768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FBB3C47-588A-41ED-ABFE-48D26B6A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3571875" cy="342900"/>
          </a:xfrm>
          <a:custGeom xmlns:a="http://schemas.openxmlformats.org/drawingml/2006/main">
            <a:pathLst>
              <a:path w="3571875" h="342900">
                <a:moveTo>
                  <a:pt x="0" y="0"/>
                </a:moveTo>
                <a:cubicBezTo>
                  <a:pt x="0" y="209550"/>
                  <a:pt x="3571875" y="209550"/>
                  <a:pt x="3571875" y="342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9F4DC14F-E56A-4FD9-BF56-762D1138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768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47625" y="2857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4" name="变换分析：一次鉴权的信息加工">
            <a:extLst xmlns:a="http://schemas.openxmlformats.org/drawingml/2006/main">
              <a:ext uri="{FF2B5EF4-FFF2-40B4-BE49-F238E27FC236}">
                <a16:creationId xmlns:a16="http://schemas.microsoft.com/office/drawing/2014/main" id="{01468654-10F3-402E-BF2B-4F748E7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变换分析：一次鉴权的信息加工</a:t>
            </a:r>
          </a:p>
        </p:txBody>
      </p:sp>
      <p:sp>
        <p:nvSpPr>
          <p:cNvPr id="15" name="step-1">
            <a:extLst xmlns:a="http://schemas.openxmlformats.org/drawingml/2006/main">
              <a:ext uri="{FF2B5EF4-FFF2-40B4-BE49-F238E27FC236}">
                <a16:creationId xmlns:a16="http://schemas.microsoft.com/office/drawing/2014/main" id="{A2098BBC-0C18-4E57-8890-F1CB5F9E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6" name="输入：核验上下文 系统、员工、会话、操作">
            <a:extLst xmlns:a="http://schemas.openxmlformats.org/drawingml/2006/main">
              <a:ext uri="{FF2B5EF4-FFF2-40B4-BE49-F238E27FC236}">
                <a16:creationId xmlns:a16="http://schemas.microsoft.com/office/drawing/2014/main" id="{46A69981-8405-4019-9321-9A88B38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输入：核验上下文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系统、员工、会话、操作</a:t>
            </a:r>
          </a:p>
        </p:txBody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DF10ECF2-A8F7-4E42-9C56-B7B688E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" name="核心：求有效权限 组合范围与角色事实">
            <a:extLst xmlns:a="http://schemas.openxmlformats.org/drawingml/2006/main">
              <a:ext uri="{FF2B5EF4-FFF2-40B4-BE49-F238E27FC236}">
                <a16:creationId xmlns:a16="http://schemas.microsoft.com/office/drawing/2014/main" id="{32696D4D-1C9E-4DEE-8E1D-9EBA93E1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43125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核心：求有效权限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组合范围与角色事实</a:t>
            </a:r>
          </a:p>
        </p:txBody>
      </p:sp>
      <p:sp>
        <p:nvSpPr>
          <p:cNvPr id="19" name="step-3">
            <a:extLst xmlns:a="http://schemas.openxmlformats.org/drawingml/2006/main">
              <a:ext uri="{FF2B5EF4-FFF2-40B4-BE49-F238E27FC236}">
                <a16:creationId xmlns:a16="http://schemas.microsoft.com/office/drawing/2014/main" id="{7751CB1B-F25C-4B82-8021-ED442A0B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24075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0" name="输出：形成判断 结论、原因与需记录事件">
            <a:extLst xmlns:a="http://schemas.openxmlformats.org/drawingml/2006/main">
              <a:ext uri="{FF2B5EF4-FFF2-40B4-BE49-F238E27FC236}">
                <a16:creationId xmlns:a16="http://schemas.microsoft.com/office/drawing/2014/main" id="{0ED9477A-1157-4653-AAF8-CB9C99EE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43125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输出：形成判断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结论、原因与需记录事件</a:t>
            </a:r>
          </a:p>
        </p:txBody>
      </p:sp>
      <p:sp>
        <p:nvSpPr>
          <p:cNvPr id="21" name="事务分析：按请求目的选择处理分支（候选控制层次）">
            <a:extLst xmlns:a="http://schemas.openxmlformats.org/drawingml/2006/main">
              <a:ext uri="{FF2B5EF4-FFF2-40B4-BE49-F238E27FC236}">
                <a16:creationId xmlns:a16="http://schemas.microsoft.com/office/drawing/2014/main" id="{C794CE84-1109-4129-AB11-C04F4C17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59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事务分析：按请求目的选择处理分支（候选控制层次）</a:t>
            </a:r>
          </a:p>
        </p:txBody>
      </p:sp>
      <p:sp>
        <p:nvSpPr>
          <p:cNvPr id="22" name="entry">
            <a:extLst xmlns:a="http://schemas.openxmlformats.org/drawingml/2006/main">
              <a:ext uri="{FF2B5EF4-FFF2-40B4-BE49-F238E27FC236}">
                <a16:creationId xmlns:a16="http://schemas.microsoft.com/office/drawing/2014/main" id="{049BD6FA-E321-4658-908E-C23C4862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10025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3" name="请求处理协调">
            <a:extLst xmlns:a="http://schemas.openxmlformats.org/drawingml/2006/main">
              <a:ext uri="{FF2B5EF4-FFF2-40B4-BE49-F238E27FC236}">
                <a16:creationId xmlns:a16="http://schemas.microsoft.com/office/drawing/2014/main" id="{0B9E8762-8D67-4120-A083-89F815BC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2907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请求处理协调</a:t>
            </a:r>
          </a:p>
        </p:txBody>
      </p:sp>
      <p:sp>
        <p:nvSpPr>
          <p:cNvPr id="24" name="branch0">
            <a:extLst xmlns:a="http://schemas.openxmlformats.org/drawingml/2006/main">
              <a:ext uri="{FF2B5EF4-FFF2-40B4-BE49-F238E27FC236}">
                <a16:creationId xmlns:a16="http://schemas.microsoft.com/office/drawing/2014/main" id="{9386B7AD-B0D8-44C2-9D74-A9240519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5" name="登录处理">
            <a:extLst xmlns:a="http://schemas.openxmlformats.org/drawingml/2006/main">
              <a:ext uri="{FF2B5EF4-FFF2-40B4-BE49-F238E27FC236}">
                <a16:creationId xmlns:a16="http://schemas.microsoft.com/office/drawing/2014/main" id="{6A41DAB2-EFAA-431F-98A5-091D133F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登录处理</a:t>
            </a:r>
          </a:p>
        </p:txBody>
      </p:sp>
      <p:sp>
        <p:nvSpPr>
          <p:cNvPr id="26" name="branch1">
            <a:extLst xmlns:a="http://schemas.openxmlformats.org/drawingml/2006/main">
              <a:ext uri="{FF2B5EF4-FFF2-40B4-BE49-F238E27FC236}">
                <a16:creationId xmlns:a16="http://schemas.microsoft.com/office/drawing/2014/main" id="{C2FE971C-47EC-4DD4-AF99-4BB5A608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768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7" name="配置管理">
            <a:extLst xmlns:a="http://schemas.openxmlformats.org/drawingml/2006/main">
              <a:ext uri="{FF2B5EF4-FFF2-40B4-BE49-F238E27FC236}">
                <a16:creationId xmlns:a16="http://schemas.microsoft.com/office/drawing/2014/main" id="{2764F0DF-D5D6-4216-8BEB-07B848D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95875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配置管理</a:t>
            </a:r>
          </a:p>
        </p:txBody>
      </p:sp>
      <p:sp>
        <p:nvSpPr>
          <p:cNvPr id="28" name="branch2">
            <a:extLst xmlns:a="http://schemas.openxmlformats.org/drawingml/2006/main">
              <a:ext uri="{FF2B5EF4-FFF2-40B4-BE49-F238E27FC236}">
                <a16:creationId xmlns:a16="http://schemas.microsoft.com/office/drawing/2014/main" id="{4EDE071A-4182-4897-B052-4C08D881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768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9" name="运行时鉴权">
            <a:extLst xmlns:a="http://schemas.openxmlformats.org/drawingml/2006/main">
              <a:ext uri="{FF2B5EF4-FFF2-40B4-BE49-F238E27FC236}">
                <a16:creationId xmlns:a16="http://schemas.microsoft.com/office/drawing/2014/main" id="{98621A27-982C-48E8-964B-30EED0D5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95875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运行时鉴权</a:t>
            </a:r>
          </a:p>
        </p:txBody>
      </p:sp>
      <p:sp>
        <p:nvSpPr>
          <p:cNvPr id="30" name="branch3">
            <a:extLst xmlns:a="http://schemas.openxmlformats.org/drawingml/2006/main">
              <a:ext uri="{FF2B5EF4-FFF2-40B4-BE49-F238E27FC236}">
                <a16:creationId xmlns:a16="http://schemas.microsoft.com/office/drawing/2014/main" id="{F44A391D-1F77-42DF-9071-962B9CD4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768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1" name="目录接收">
            <a:extLst xmlns:a="http://schemas.openxmlformats.org/drawingml/2006/main">
              <a:ext uri="{FF2B5EF4-FFF2-40B4-BE49-F238E27FC236}">
                <a16:creationId xmlns:a16="http://schemas.microsoft.com/office/drawing/2014/main" id="{38F1E837-AD77-47F8-ABD7-F948FDC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95875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目录接收</a:t>
            </a:r>
          </a:p>
        </p:txBody>
      </p:sp>
      <p:sp>
        <p:nvSpPr>
          <p:cNvPr id="32" name="变换分析识别输入、核心加工与输出；事务分析按请求目的选择分支。两种方法辅助推导，仍需 业务规则校验。">
            <a:extLst xmlns:a="http://schemas.openxmlformats.org/drawingml/2006/main">
              <a:ext uri="{FF2B5EF4-FFF2-40B4-BE49-F238E27FC236}">
                <a16:creationId xmlns:a16="http://schemas.microsoft.com/office/drawing/2014/main" id="{AA8691ED-4E36-402E-BD68-A6711996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变换分析识别输入、核心加工与输出；事务分析按请求目的选择分支。两种方法辅助推导，仍需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业务规则校验。</a:t>
            </a:r>
          </a:p>
        </p:txBody>
      </p:sp>
      <p:sp>
        <p:nvSpPr>
          <p:cNvPr id="33" name="21">
            <a:extLst xmlns:a="http://schemas.openxmlformats.org/drawingml/2006/main">
              <a:ext uri="{FF2B5EF4-FFF2-40B4-BE49-F238E27FC236}">
                <a16:creationId xmlns:a16="http://schemas.microsoft.com/office/drawing/2014/main" id="{14D4BF69-D779-4691-95FC-53F6C4DF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89541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模块质量与停止分解的依据">
            <a:extLst xmlns:a="http://schemas.openxmlformats.org/drawingml/2006/main">
              <a:ext uri="{FF2B5EF4-FFF2-40B4-BE49-F238E27FC236}">
                <a16:creationId xmlns:a16="http://schemas.microsoft.com/office/drawing/2014/main" id="{D94EC8E6-3ABC-4D27-AC71-31556544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模块质量与停止分解的依据</a:t>
            </a:r>
          </a:p>
        </p:txBody>
      </p:sp>
      <p:sp>
        <p:nvSpPr>
          <p:cNvPr id="2" name="内聚：会话生命周期集中，目录和角色有效性集中；耦合：通过必要业务事实协作 ，避免重复维护他人规则。">
            <a:extLst xmlns:a="http://schemas.openxmlformats.org/drawingml/2006/main">
              <a:ext uri="{FF2B5EF4-FFF2-40B4-BE49-F238E27FC236}">
                <a16:creationId xmlns:a16="http://schemas.microsoft.com/office/drawing/2014/main" id="{244A763D-1BE9-4FE1-8FB9-A5C7DBE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内聚：会话生命周期集中，目录和角色有效性集中；耦合：通过必要业务事实协作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，避免重复维护他人规则。</a:t>
            </a:r>
          </a:p>
        </p:txBody>
      </p:sp>
      <p:sp>
        <p:nvSpPr>
          <p:cNvPr id="3" name="新增权限主要影响目录角色，修改会话期限主要影响身份；多角色需求牵动分配、 查询与鉴权。">
            <a:extLst xmlns:a="http://schemas.openxmlformats.org/drawingml/2006/main">
              <a:ext uri="{FF2B5EF4-FFF2-40B4-BE49-F238E27FC236}">
                <a16:creationId xmlns:a16="http://schemas.microsoft.com/office/drawing/2014/main" id="{BF7B2D31-4D2D-4754-9858-CCD5866A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新增权限主要影响目录角色，修改会话期限主要影响身份；多角色需求牵动分配、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查询与鉴权。</a:t>
            </a:r>
          </a:p>
        </p:txBody>
      </p:sp>
      <p:sp>
        <p:nvSpPr>
          <p:cNvPr id="4" name="当责任、输入输出、规则和异常可以说明并验收时，停止本次分解，不继续展开实 现细节。">
            <a:extLst xmlns:a="http://schemas.openxmlformats.org/drawingml/2006/main">
              <a:ext uri="{FF2B5EF4-FFF2-40B4-BE49-F238E27FC236}">
                <a16:creationId xmlns:a16="http://schemas.microsoft.com/office/drawing/2014/main" id="{FF7C1FA4-8B01-49BC-83F9-356039E0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当责任、输入输出、规则和异常可以说明并验收时，停止本次分解，不继续展开实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现细节。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A324B2A4-EBEE-4B0A-9C7A-05BB174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995720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非功能需求与可测量目标">
            <a:extLst xmlns:a="http://schemas.openxmlformats.org/drawingml/2006/main">
              <a:ext uri="{FF2B5EF4-FFF2-40B4-BE49-F238E27FC236}">
                <a16:creationId xmlns:a16="http://schemas.microsoft.com/office/drawing/2014/main" id="{CC37AA99-C520-4910-8D59-67AD946C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非功能需求与可测量目标</a:t>
            </a:r>
          </a:p>
        </p:txBody>
      </p:sp>
      <p:sp>
        <p:nvSpPr>
          <p:cNvPr id="2" name="登录：10,000 账号在 60 秒发起，完整流程 P95 ≤ 3 秒。鉴权：1,000 次/ 秒持续 5 分钟，P95 ≤ 300 毫秒。">
            <a:extLst xmlns:a="http://schemas.openxmlformats.org/drawingml/2006/main">
              <a:ext uri="{FF2B5EF4-FFF2-40B4-BE49-F238E27FC236}">
                <a16:creationId xmlns:a16="http://schemas.microsoft.com/office/drawing/2014/main" id="{0AAD5D45-8BE9-40EA-A071-BA02D63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登录：10,000 账号在 60 秒发起，完整流程 P95 ≤ 3 秒。鉴权：1,000 次/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秒持续 5 分钟，P95 ≤ 300 毫秒。</a:t>
            </a:r>
          </a:p>
        </p:txBody>
      </p:sp>
      <p:sp>
        <p:nvSpPr>
          <p:cNvPr id="3" name="100 管理员并发，常用操作 P95 ≤ 3 秒；混合负载分别达标。登录和鉴权技术 失败率 ≤ 1%。">
            <a:extLst xmlns:a="http://schemas.openxmlformats.org/drawingml/2006/main">
              <a:ext uri="{FF2B5EF4-FFF2-40B4-BE49-F238E27FC236}">
                <a16:creationId xmlns:a16="http://schemas.microsoft.com/office/drawing/2014/main" id="{858A2DB6-F352-4CB4-A247-1BEFCC68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100 管理员并发，常用操作 P95 ≤ 3 秒；混合负载分别达标。登录和鉴权技术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失败率 ≤ 1%。</a:t>
            </a:r>
          </a:p>
        </p:txBody>
      </p:sp>
      <p:sp>
        <p:nvSpPr>
          <p:cNvPr id="4" name="变更最迟 3 秒影响后续请求，越权零容忍。记录硬件、负载和测量边界，目标必 须实测。">
            <a:extLst xmlns:a="http://schemas.openxmlformats.org/drawingml/2006/main">
              <a:ext uri="{FF2B5EF4-FFF2-40B4-BE49-F238E27FC236}">
                <a16:creationId xmlns:a16="http://schemas.microsoft.com/office/drawing/2014/main" id="{C6935B7D-11B6-48A9-9253-5A04577D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变更最迟 3 秒影响后续请求，越权零容忍。记录硬件、负载和测量边界，目标必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须实测。</a:t>
            </a:r>
          </a:p>
        </p:txBody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74013800-68F5-4644-9829-0147D68E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175770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验收追踪与需求变更评审">
            <a:extLst xmlns:a="http://schemas.openxmlformats.org/drawingml/2006/main">
              <a:ext uri="{FF2B5EF4-FFF2-40B4-BE49-F238E27FC236}">
                <a16:creationId xmlns:a16="http://schemas.microsoft.com/office/drawing/2014/main" id="{668D00A1-2CA0-4C1D-91A3-86A70EB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验收追踪与需求变更评审</a:t>
            </a:r>
          </a:p>
        </p:txBody>
      </p:sp>
      <p:sp>
        <p:nvSpPr>
          <p:cNvPr id="2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2D772CB8-AE3F-43C1-9633-B9A260BD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85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3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CCC09A3A-8026-4011-B447-D11D374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38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4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0272A64-1719-4CBD-897B-DC01E963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85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5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37E61D80-2747-45D8-AE8A-D8B5F3FE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38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40B7D5FE-B637-446D-9419-0C34CDC7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569EEF64-2684-498E-BE59-C18F25CD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8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E482FDDA-1B54-4A1D-9720-E18B8B8D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1988"/>
            <a:ext cx="895350" cy="9525"/>
          </a:xfrm>
          <a:custGeom xmlns:a="http://schemas.openxmlformats.org/drawingml/2006/main"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9" name="图形连线">
            <a:extLst xmlns:a="http://schemas.openxmlformats.org/drawingml/2006/main">
              <a:ext uri="{FF2B5EF4-FFF2-40B4-BE49-F238E27FC236}">
                <a16:creationId xmlns:a16="http://schemas.microsoft.com/office/drawing/2014/main" id="{06747F0F-F818-4AB6-962C-42704B45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24363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95250"/>
                </a:lnTo>
                <a:lnTo>
                  <a:pt x="28575" y="476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" name="step-0">
            <a:extLst xmlns:a="http://schemas.openxmlformats.org/drawingml/2006/main">
              <a:ext uri="{FF2B5EF4-FFF2-40B4-BE49-F238E27FC236}">
                <a16:creationId xmlns:a16="http://schemas.microsoft.com/office/drawing/2014/main" id="{AF15B57D-E533-4CDC-B35D-B99DF1F8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1" name="需求：撤权后 最多 3 秒拒绝">
            <a:extLst xmlns:a="http://schemas.openxmlformats.org/drawingml/2006/main">
              <a:ext uri="{FF2B5EF4-FFF2-40B4-BE49-F238E27FC236}">
                <a16:creationId xmlns:a16="http://schemas.microsoft.com/office/drawing/2014/main" id="{682CCE06-A5AE-421D-AC7D-50D4C98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需求：撤权后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最多 3 秒拒绝</a:t>
            </a:r>
          </a:p>
        </p:txBody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7483A005-0E91-4A8D-8B64-540384CC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DFD：P4.1 改分配 P4.3 据新事实判断">
            <a:extLst xmlns:a="http://schemas.openxmlformats.org/drawingml/2006/main">
              <a:ext uri="{FF2B5EF4-FFF2-40B4-BE49-F238E27FC236}">
                <a16:creationId xmlns:a16="http://schemas.microsoft.com/office/drawing/2014/main" id="{A213B312-7B47-4E8B-9B09-BC4C8830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DFD：P4.1 改分配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P4.3 据新事实判断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57FD4A1A-835A-41B9-88F4-C51A49AA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模块：M5 组织处理 相关事实与审计协作">
            <a:extLst xmlns:a="http://schemas.openxmlformats.org/drawingml/2006/main">
              <a:ext uri="{FF2B5EF4-FFF2-40B4-BE49-F238E27FC236}">
                <a16:creationId xmlns:a16="http://schemas.microsoft.com/office/drawing/2014/main" id="{85E609AD-7973-4F1C-9411-178A1F5F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模块：M5 组织处理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相关事实与审计协作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4760621D-D930-4F15-B21B-F47DD1C3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7" name="验收：撤权前允许">
            <a:extLst xmlns:a="http://schemas.openxmlformats.org/drawingml/2006/main">
              <a:ext uri="{FF2B5EF4-FFF2-40B4-BE49-F238E27FC236}">
                <a16:creationId xmlns:a16="http://schemas.microsoft.com/office/drawing/2014/main" id="{C9C97141-1D66-48A3-BCEF-BA89177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验收：撤权前允许</a:t>
            </a:r>
          </a:p>
        </p:txBody>
      </p:sp>
      <p:sp>
        <p:nvSpPr>
          <p:cNvPr id="18" name="step-4">
            <a:extLst xmlns:a="http://schemas.openxmlformats.org/drawingml/2006/main">
              <a:ext uri="{FF2B5EF4-FFF2-40B4-BE49-F238E27FC236}">
                <a16:creationId xmlns:a16="http://schemas.microsoft.com/office/drawing/2014/main" id="{EBB2C8E4-EF8D-42E7-9883-FA6C9572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撤权成功后持续请求 观察 3 秒后的结果">
            <a:extLst xmlns:a="http://schemas.openxmlformats.org/drawingml/2006/main">
              <a:ext uri="{FF2B5EF4-FFF2-40B4-BE49-F238E27FC236}">
                <a16:creationId xmlns:a16="http://schemas.microsoft.com/office/drawing/2014/main" id="{B0774463-5577-4E40-9F9C-F68F683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撤权成功后持续请求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观察 3 秒后的结果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424CF7EA-7BA1-4DD0-AEC4-019A0081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3 秒后仍允许即失败 技术失败不能掩盖越权">
            <a:extLst xmlns:a="http://schemas.openxmlformats.org/drawingml/2006/main">
              <a:ext uri="{FF2B5EF4-FFF2-40B4-BE49-F238E27FC236}">
                <a16:creationId xmlns:a16="http://schemas.microsoft.com/office/drawing/2014/main" id="{A11365D1-A267-4668-8D26-BBD2776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8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 秒后仍允许即失败</a:t>
            </a:r>
          </a:p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技术失败不能掩盖越权</a:t>
            </a:r>
          </a:p>
        </p:txBody>
      </p:sp>
      <p:sp>
        <p:nvSpPr>
          <p:cNvPr id="22" name="上行表示追踪关系，下行表示验证步骤；同样检查目录停用、批量失败和员工调动">
            <a:extLst xmlns:a="http://schemas.openxmlformats.org/drawingml/2006/main">
              <a:ext uri="{FF2B5EF4-FFF2-40B4-BE49-F238E27FC236}">
                <a16:creationId xmlns:a16="http://schemas.microsoft.com/office/drawing/2014/main" id="{48FD82E0-053B-48EE-99C5-F0BFED3C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059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上行表示追踪关系，下行表示验证步骤；同样检查目录停用、批量失败和员工调动</a:t>
            </a:r>
          </a:p>
        </p:txBody>
      </p:sp>
      <p:sp>
        <p:nvSpPr>
          <p:cNvPr id="23" name="规则变化先澄清语义，再检查受影响的数据流、模块和验收场景">
            <a:extLst xmlns:a="http://schemas.openxmlformats.org/drawingml/2006/main">
              <a:ext uri="{FF2B5EF4-FFF2-40B4-BE49-F238E27FC236}">
                <a16:creationId xmlns:a16="http://schemas.microsoft.com/office/drawing/2014/main" id="{6C339B8C-2954-4B52-88E0-0E35976E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规则变化先澄清语义，再检查受影响的数据流、模块和验收场景</a:t>
            </a:r>
          </a:p>
        </p:txBody>
      </p:sp>
      <p:sp>
        <p:nvSpPr>
          <p:cNvPr id="24" name="用“撤权后三秒拒绝”反查需求、DFD、模块责任和验收；再用目录停用、批量失败及员工调动 检查遗漏。">
            <a:extLst xmlns:a="http://schemas.openxmlformats.org/drawingml/2006/main">
              <a:ext uri="{FF2B5EF4-FFF2-40B4-BE49-F238E27FC236}">
                <a16:creationId xmlns:a16="http://schemas.microsoft.com/office/drawing/2014/main" id="{5DD9D859-1DC0-45A7-9E96-7321EBD9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用“撤权后三秒拒绝”反查需求、DFD、模块责任和验收；再用目录停用、批量失败及员工调动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检查遗漏。</a:t>
            </a:r>
          </a:p>
        </p:txBody>
      </p:sp>
      <p:sp>
        <p:nvSpPr>
          <p:cNvPr id="25" name="24">
            <a:extLst xmlns:a="http://schemas.openxmlformats.org/drawingml/2006/main">
              <a:ext uri="{FF2B5EF4-FFF2-40B4-BE49-F238E27FC236}">
                <a16:creationId xmlns:a16="http://schemas.microsoft.com/office/drawing/2014/main" id="{80C2F850-B482-4C2C-A098-6AA71407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36734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2026-10-28T13:47:32.7060000Z</dcterms:created>
  <dcterms:modified xsi:type="dcterms:W3CDTF">2026-10-28T13:47:32.7060000Z</dcterms:modified>
</coreProperties>
</file>